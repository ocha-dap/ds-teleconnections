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de lo normal</c:v>
                </c:pt>
              </c:strCache>
            </c:strRef>
          </c:tx>
          <c:spPr>
            <a:solidFill>
              <a:srgbClr val="B5541B"/>
            </a:solidFill>
          </c:spPr>
          <c:cat>
            <c:strRef>
              <c:f>Sheet1!$A$2:$A$8</c:f>
              <c:strCache>
                <c:ptCount val="7"/>
                <c:pt idx="0">
                  <c:v>Noroeste</c:v>
                </c:pt>
                <c:pt idx="1">
                  <c:v>Costa nororiental</c:v>
                </c:pt>
                <c:pt idx="2">
                  <c:v>Llanos centrales y orientales</c:v>
                </c:pt>
                <c:pt idx="3">
                  <c:v>Andes</c:v>
                </c:pt>
                <c:pt idx="4">
                  <c:v>Centro-norte</c:v>
                </c:pt>
                <c:pt idx="5">
                  <c:v>Llanos occidentales</c:v>
                </c:pt>
                <c:pt idx="6">
                  <c:v>Guayana y Delta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</c:v>
                </c:pt>
                <c:pt idx="1">
                  <c:v>68</c:v>
                </c:pt>
                <c:pt idx="2">
                  <c:v>76</c:v>
                </c:pt>
                <c:pt idx="3">
                  <c:v>78</c:v>
                </c:pt>
                <c:pt idx="4">
                  <c:v>81</c:v>
                </c:pt>
                <c:pt idx="5">
                  <c:v>83</c:v>
                </c:pt>
                <c:pt idx="6">
                  <c:v>89</c:v>
                </c:pt>
              </c:numCache>
            </c:numRef>
          </c:val>
        </c:ser>
        <c:dLbls>
          <c:numFmt formatCode="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A999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CD8D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Tres partes: lo que trajeron los años de El Niño anteriores, cómo va este año y el pronóstico estacional para los próximos meses. Para esta temporada, hay que planificar con el pronóstico; los años anteriores son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Una línea por cada parte: lo que trajeron los años de El Niño anteriores, cómo va este año y qué dice el pronóstico. Los años anteriores son contexto; el pronóstico es con lo que hay que planificar.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Las zonas del INAMEH según el inicio de la temporada de lluvias van de inicios de abril en el extremo sur (A) a fines de junio en la costa norte (E). La temporada de lluvias de cada zona va de su inicio a noviembre; su estación seca, de diciembre al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Inundaciones: registros de DesInventar, cada año frente a los años de alrededor. Guri: altimetría satelital NASA G-REALM desde 1992. Vegetación: FPAR de JRC ASAP, noviembre–abril, desde 2000; 2023/24, un El Niño fuerte, no estuvo entre las peores.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El total de cada región en los meses transcurridos de este año de lluvias, como porcentaje de su normal de 1991–2020.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La página completa también cartografía los pastizales. ASAP se actualiza cada diez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Alturas satelitales sobre el geoide EGM2008, no la cota de referencia del operador: comparar bajadas, no niveles.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Los pronósticos de octubre de 1997 y 2015 salieron casi igual de secos; la lluvia que siguió estuvo entre las más bajas registradas en 1997 y por debajo de lo normal en 2015. Febrero–abril tiende a húmedo en el oeste y el centro, donde el pronóstico tiene destreza baja o esos meses quedan fuera de la temporada de lluvias.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Calendario: https://fews.net/latin-america-and-caribbean/venezuela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VE"/>
              <a:t>Lo que cambiará este panorama en las próximas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6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cha-dap.github.io/ds-teleconnections/enso/ven/e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20240"/>
            <a:ext cx="10332720" cy="1371600"/>
          </a:xfrm>
        </p:spPr>
        <p:txBody>
          <a:bodyPr/>
          <a:lstStyle/>
          <a:p>
            <a:pPr algn="l"/>
            <a:r>
              <a:rPr sz="4800" lang="es-VE">
                <a:solidFill>
                  <a:srgbClr val="FBF7F2"/>
                </a:solidFill>
              </a:rPr>
              <a:t>Venezuela: El Niño 2026/27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29000"/>
            <a:ext cx="10332720" cy="1463040"/>
          </a:xfrm>
        </p:spPr>
        <p:txBody>
          <a:bodyPr/>
          <a:lstStyle/>
          <a:p>
            <a:pPr algn="l"/>
            <a:r>
              <a:rPr sz="2200" lang="es-VE">
                <a:solidFill>
                  <a:srgbClr val="E9DCCD"/>
                </a:solidFill>
              </a:rPr>
              <a:t>Lo que trajeron los años de El Niño anteriores, cómo va este año y el pronóstico para los próximos meses</a:t>
            </a:r>
          </a:p>
        </p:txBody>
      </p:sp>
      <p:sp>
        <p:nvSpPr>
          <p:cNvPr id="4" name="Byline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lang="es-VE">
                <a:solidFill>
                  <a:srgbClr val="CDB9A4"/>
                </a:solidFill>
              </a:rPr>
              <a:t>Centro de Datos Humanitarios de OCHA · lluvia hasta septiembre de 2026, vegetación hasta el 11–20 de octubre de 2026, SEAS5 emitido en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Resumen</a:t>
            </a:r>
          </a:p>
        </p:txBody>
      </p:sp>
      <p:sp>
        <p:nvSpPr>
          <p:cNvPr id="3" name="Panel 1"/>
          <p:cNvSpPr/>
          <p:nvPr/>
        </p:nvSpPr>
        <p:spPr>
          <a:xfrm>
            <a:off x="548640" y="1828800"/>
            <a:ext cx="11064240" cy="1234440"/>
          </a:xfrm>
          <a:prstGeom prst="rect">
            <a:avLst/>
          </a:prstGeom>
          <a:solidFill>
            <a:srgbClr val="F1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ber 1"/>
          <p:cNvSpPr txBox="1"/>
          <p:nvPr/>
        </p:nvSpPr>
        <p:spPr>
          <a:xfrm>
            <a:off x="777240" y="20116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lang="es-VE">
                <a:solidFill>
                  <a:srgbClr val="B5541B"/>
                </a:solidFill>
              </a:rPr>
              <a:t>1</a:t>
            </a:r>
          </a:p>
        </p:txBody>
      </p:sp>
      <p:sp>
        <p:nvSpPr>
          <p:cNvPr id="5" name="Heading 1"/>
          <p:cNvSpPr txBox="1"/>
          <p:nvPr/>
        </p:nvSpPr>
        <p:spPr>
          <a:xfrm>
            <a:off x="1554480" y="1965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lang="es-VE">
                <a:solidFill>
                  <a:srgbClr val="1F2328"/>
                </a:solidFill>
              </a:rPr>
              <a:t>Años de El Niño anteriores</a:t>
            </a:r>
          </a:p>
        </p:txBody>
      </p:sp>
      <p:sp>
        <p:nvSpPr>
          <p:cNvPr id="6" name="Text 1"/>
          <p:cNvSpPr txBox="1"/>
          <p:nvPr/>
        </p:nvSpPr>
        <p:spPr>
          <a:xfrm>
            <a:off x="4206240" y="1965960"/>
            <a:ext cx="7223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lang="es-VE">
                <a:solidFill>
                  <a:srgbClr val="1F2328"/>
                </a:solidFill>
              </a:rPr>
              <a:t>Estación seca más seca en el sur (21–33% menos lluvia) y lluvias más débiles en el norte (8–19% menos); menos registros de inundaciones; el embalse de Guri bajó más.</a:t>
            </a:r>
          </a:p>
        </p:txBody>
      </p:sp>
      <p:sp>
        <p:nvSpPr>
          <p:cNvPr id="7" name="Panel 2"/>
          <p:cNvSpPr/>
          <p:nvPr/>
        </p:nvSpPr>
        <p:spPr>
          <a:xfrm>
            <a:off x="548640" y="3246120"/>
            <a:ext cx="11064240" cy="1234440"/>
          </a:xfrm>
          <a:prstGeom prst="rect">
            <a:avLst/>
          </a:prstGeom>
          <a:solidFill>
            <a:srgbClr val="F1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ber 2"/>
          <p:cNvSpPr txBox="1"/>
          <p:nvPr/>
        </p:nvSpPr>
        <p:spPr>
          <a:xfrm>
            <a:off x="777240" y="342900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lang="es-VE">
                <a:solidFill>
                  <a:srgbClr val="B5541B"/>
                </a:solidFill>
              </a:rPr>
              <a:t>2</a:t>
            </a:r>
          </a:p>
        </p:txBody>
      </p:sp>
      <p:sp>
        <p:nvSpPr>
          <p:cNvPr id="9" name="Heading 2"/>
          <p:cNvSpPr txBox="1"/>
          <p:nvPr/>
        </p:nvSpPr>
        <p:spPr>
          <a:xfrm>
            <a:off x="1554480" y="3383279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lang="es-VE">
                <a:solidFill>
                  <a:srgbClr val="1F2328"/>
                </a:solidFill>
              </a:rPr>
              <a:t>Este año hasta ahora</a:t>
            </a:r>
          </a:p>
        </p:txBody>
      </p:sp>
      <p:sp>
        <p:nvSpPr>
          <p:cNvPr id="10" name="Text 2"/>
          <p:cNvSpPr txBox="1"/>
          <p:nvPr/>
        </p:nvSpPr>
        <p:spPr>
          <a:xfrm>
            <a:off x="4206240" y="3383279"/>
            <a:ext cx="7223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lang="es-VE">
                <a:solidFill>
                  <a:srgbClr val="1F2328"/>
                </a:solidFill>
              </a:rPr>
              <a:t>La lluvia de mayo–septiembre fue del 65–89% de lo normal, entre las cinco más bajas desde 1981. Los cultivos están por debajo del umbral de alerta en Sucre, Zulia y Falcón. Guri está casi lleno.</a:t>
            </a:r>
          </a:p>
        </p:txBody>
      </p:sp>
      <p:sp>
        <p:nvSpPr>
          <p:cNvPr id="11" name="Panel 3"/>
          <p:cNvSpPr/>
          <p:nvPr/>
        </p:nvSpPr>
        <p:spPr>
          <a:xfrm>
            <a:off x="548640" y="4663440"/>
            <a:ext cx="11064240" cy="1234440"/>
          </a:xfrm>
          <a:prstGeom prst="rect">
            <a:avLst/>
          </a:prstGeom>
          <a:solidFill>
            <a:srgbClr val="F1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ber 3"/>
          <p:cNvSpPr txBox="1"/>
          <p:nvPr/>
        </p:nvSpPr>
        <p:spPr>
          <a:xfrm>
            <a:off x="777240" y="484632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lang="es-VE">
                <a:solidFill>
                  <a:srgbClr val="B5541B"/>
                </a:solidFill>
              </a:rPr>
              <a:t>3</a:t>
            </a:r>
          </a:p>
        </p:txBody>
      </p:sp>
      <p:sp>
        <p:nvSpPr>
          <p:cNvPr id="13" name="Heading 3"/>
          <p:cNvSpPr txBox="1"/>
          <p:nvPr/>
        </p:nvSpPr>
        <p:spPr>
          <a:xfrm>
            <a:off x="1554480" y="48006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lang="es-VE">
                <a:solidFill>
                  <a:srgbClr val="1F2328"/>
                </a:solidFill>
              </a:rPr>
              <a:t>El pronóstico</a:t>
            </a:r>
          </a:p>
        </p:txBody>
      </p:sp>
      <p:sp>
        <p:nvSpPr>
          <p:cNvPr id="14" name="Text 3"/>
          <p:cNvSpPr txBox="1"/>
          <p:nvPr/>
        </p:nvSpPr>
        <p:spPr>
          <a:xfrm>
            <a:off x="4206240" y="4800600"/>
            <a:ext cx="7223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lang="es-VE">
                <a:solidFill>
                  <a:srgbClr val="1F2328"/>
                </a:solidFill>
              </a:rPr>
              <a:t>SEAS5 (octubre de 2026): octubre–febrero entre el 10% más seco de los pronósticos desde 1981, allí donde es temporada de lluvias. Para esta temporada, hay que planificar con el pronóstico.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En los años de El Niño anteriores, la estación seca fue más seca en el sur y las lluvias más débiles en el norte</a:t>
            </a:r>
          </a:p>
        </p:txBody>
      </p:sp>
      <p:sp>
        <p:nvSpPr>
          <p:cNvPr id="3" name="Part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es-VE">
                <a:solidFill>
                  <a:srgbClr val="B5541B"/>
                </a:solidFill>
              </a:rPr>
              <a:t>1 · AÑOS DE EL NIÑO ANTERIORES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es-VE">
                <a:solidFill>
                  <a:srgbClr val="5B6168"/>
                </a:solidFill>
              </a:rPr>
              <a:t>Medianas de los 15 años de El Niño desde 1981. Zonas: mapa del INAMEH de inicio de la temporada de lluvias. Lluvia: CHIRPS v3.</a:t>
            </a:r>
          </a:p>
        </p:txBody>
      </p:sp>
      <p:pic>
        <p:nvPicPr>
          <p:cNvPr id="5" name="Picture 4" descr="zon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111924" cy="4343400"/>
          </a:xfrm>
          <a:prstGeom prst="rect">
            <a:avLst/>
          </a:prstGeom>
        </p:spPr>
      </p:pic>
      <p:sp>
        <p:nvSpPr>
          <p:cNvPr id="6" name="Figure 1"/>
          <p:cNvSpPr txBox="1"/>
          <p:nvPr/>
        </p:nvSpPr>
        <p:spPr>
          <a:xfrm>
            <a:off x="6400800" y="21031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lang="es-VE">
                <a:solidFill>
                  <a:srgbClr val="B5541B"/>
                </a:solidFill>
              </a:rPr>
              <a:t>21–33%</a:t>
            </a:r>
          </a:p>
        </p:txBody>
      </p:sp>
      <p:sp>
        <p:nvSpPr>
          <p:cNvPr id="7" name="Label 1"/>
          <p:cNvSpPr txBox="1"/>
          <p:nvPr/>
        </p:nvSpPr>
        <p:spPr>
          <a:xfrm>
            <a:off x="6400800" y="30175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lang="es-VE">
                <a:solidFill>
                  <a:srgbClr val="1F2328"/>
                </a:solidFill>
              </a:rPr>
              <a:t>menos lluvia en la estación seca en el sur (zonas A y B)</a:t>
            </a:r>
          </a:p>
        </p:txBody>
      </p:sp>
      <p:sp>
        <p:nvSpPr>
          <p:cNvPr id="8" name="Figure 2"/>
          <p:cNvSpPr txBox="1"/>
          <p:nvPr/>
        </p:nvSpPr>
        <p:spPr>
          <a:xfrm>
            <a:off x="6400800" y="406907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lang="es-VE">
                <a:solidFill>
                  <a:srgbClr val="B5541B"/>
                </a:solidFill>
              </a:rPr>
              <a:t>8–19%</a:t>
            </a:r>
          </a:p>
        </p:txBody>
      </p:sp>
      <p:sp>
        <p:nvSpPr>
          <p:cNvPr id="9" name="Label 2"/>
          <p:cNvSpPr txBox="1"/>
          <p:nvPr/>
        </p:nvSpPr>
        <p:spPr>
          <a:xfrm>
            <a:off x="6400800" y="498347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lang="es-VE">
                <a:solidFill>
                  <a:srgbClr val="1F2328"/>
                </a:solidFill>
              </a:rPr>
              <a:t>menos lluvia en la temporada de lluvias en el norte (zonas C a 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Con El Niño también hubo menos inundaciones registradas, más bajada del Guri y peor vegetación en la estación seca</a:t>
            </a:r>
          </a:p>
        </p:txBody>
      </p:sp>
      <p:sp>
        <p:nvSpPr>
          <p:cNvPr id="3" name="Part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es-VE">
                <a:solidFill>
                  <a:srgbClr val="B5541B"/>
                </a:solidFill>
              </a:rPr>
              <a:t>1 · AÑOS DE EL NIÑO ANTERIORES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es-VE">
                <a:solidFill>
                  <a:srgbClr val="5B6168"/>
                </a:solidFill>
              </a:rPr>
              <a:t>Las cosechas no muestran una relación clara con El Niño (rendimientos de maíz y arroz de FAOSTAT).</a:t>
            </a:r>
          </a:p>
        </p:txBody>
      </p:sp>
      <p:sp>
        <p:nvSpPr>
          <p:cNvPr id="5" name="Card 1"/>
          <p:cNvSpPr/>
          <p:nvPr/>
        </p:nvSpPr>
        <p:spPr>
          <a:xfrm>
            <a:off x="548640" y="2103120"/>
            <a:ext cx="3520440" cy="3566160"/>
          </a:xfrm>
          <a:prstGeom prst="rect">
            <a:avLst/>
          </a:prstGeom>
          <a:solidFill>
            <a:srgbClr val="F1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ure 1"/>
          <p:cNvSpPr txBox="1"/>
          <p:nvPr/>
        </p:nvSpPr>
        <p:spPr>
          <a:xfrm>
            <a:off x="822959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lang="es-VE">
                <a:solidFill>
                  <a:srgbClr val="B5541B"/>
                </a:solidFill>
              </a:rPr>
              <a:t>30–64%</a:t>
            </a:r>
          </a:p>
        </p:txBody>
      </p:sp>
      <p:sp>
        <p:nvSpPr>
          <p:cNvPr id="7" name="Label 1"/>
          <p:cNvSpPr txBox="1"/>
          <p:nvPr/>
        </p:nvSpPr>
        <p:spPr>
          <a:xfrm>
            <a:off x="822959" y="34290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lang="es-VE">
                <a:solidFill>
                  <a:srgbClr val="1F2328"/>
                </a:solidFill>
              </a:rPr>
              <a:t>menos registros de inundaciones y deslizamientos en un año típico de El Niño (DesInventar, 1975–2013)</a:t>
            </a:r>
          </a:p>
        </p:txBody>
      </p:sp>
      <p:sp>
        <p:nvSpPr>
          <p:cNvPr id="8" name="Card 2"/>
          <p:cNvSpPr/>
          <p:nvPr/>
        </p:nvSpPr>
        <p:spPr>
          <a:xfrm>
            <a:off x="4297679" y="2103120"/>
            <a:ext cx="3520440" cy="3566160"/>
          </a:xfrm>
          <a:prstGeom prst="rect">
            <a:avLst/>
          </a:prstGeom>
          <a:solidFill>
            <a:srgbClr val="F1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ure 2"/>
          <p:cNvSpPr txBox="1"/>
          <p:nvPr/>
        </p:nvSpPr>
        <p:spPr>
          <a:xfrm>
            <a:off x="4571999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lang="es-VE">
                <a:solidFill>
                  <a:srgbClr val="B5541B"/>
                </a:solidFill>
              </a:rPr>
              <a:t>14 m</a:t>
            </a:r>
          </a:p>
        </p:txBody>
      </p:sp>
      <p:sp>
        <p:nvSpPr>
          <p:cNvPr id="10" name="Label 2"/>
          <p:cNvSpPr txBox="1"/>
          <p:nvPr/>
        </p:nvSpPr>
        <p:spPr>
          <a:xfrm>
            <a:off x="4571999" y="34290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lang="es-VE">
                <a:solidFill>
                  <a:srgbClr val="1F2328"/>
                </a:solidFill>
              </a:rPr>
              <a:t>bajada del embalse de Guri durante la estación seca tras un año típico de El Niño, frente a 5 m tras La Niña</a:t>
            </a:r>
          </a:p>
        </p:txBody>
      </p:sp>
      <p:sp>
        <p:nvSpPr>
          <p:cNvPr id="11" name="Card 3"/>
          <p:cNvSpPr/>
          <p:nvPr/>
        </p:nvSpPr>
        <p:spPr>
          <a:xfrm>
            <a:off x="8046719" y="2103120"/>
            <a:ext cx="3520440" cy="3566160"/>
          </a:xfrm>
          <a:prstGeom prst="rect">
            <a:avLst/>
          </a:prstGeom>
          <a:solidFill>
            <a:srgbClr val="F1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igure 3"/>
          <p:cNvSpPr txBox="1"/>
          <p:nvPr/>
        </p:nvSpPr>
        <p:spPr>
          <a:xfrm>
            <a:off x="832104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lang="es-VE">
                <a:solidFill>
                  <a:srgbClr val="B5541B"/>
                </a:solidFill>
              </a:rPr>
              <a:t>3 peores</a:t>
            </a:r>
          </a:p>
        </p:txBody>
      </p:sp>
      <p:sp>
        <p:nvSpPr>
          <p:cNvPr id="13" name="Label 3"/>
          <p:cNvSpPr txBox="1"/>
          <p:nvPr/>
        </p:nvSpPr>
        <p:spPr>
          <a:xfrm>
            <a:off x="8321040" y="34290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lang="es-VE">
                <a:solidFill>
                  <a:srgbClr val="1F2328"/>
                </a:solidFill>
              </a:rPr>
              <a:t>estaciones secas para la vegetación desde 2000 siguieron todas a un El Niño (2002/03, 2009/10, 2015/16)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La lluvia de mayo–septiembre de 2026 fue del 65–89% de lo normal, entre las cinco más bajas desde 1981</a:t>
            </a:r>
          </a:p>
        </p:txBody>
      </p:sp>
      <p:sp>
        <p:nvSpPr>
          <p:cNvPr id="3" name="Part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es-VE">
                <a:solidFill>
                  <a:srgbClr val="B5541B"/>
                </a:solidFill>
              </a:rPr>
              <a:t>2 · ESTE AÑO HASTA AHORA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es-VE">
                <a:solidFill>
                  <a:srgbClr val="5B6168"/>
                </a:solidFill>
              </a:rPr>
              <a:t>CHIRPS v3 hasta septiembre de 2026, % de lo normal de 1991–2020. ERA5 da 57–81%. Los datos de octubre salen en noviembre.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11064240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Mediados de octubre: vegetación cerca de lo normal en el país, cultivos bajo el umbral de alerta en Sucre, Zulia y Falcón</a:t>
            </a:r>
          </a:p>
        </p:txBody>
      </p:sp>
      <p:sp>
        <p:nvSpPr>
          <p:cNvPr id="3" name="Part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es-VE">
                <a:solidFill>
                  <a:srgbClr val="B5541B"/>
                </a:solidFill>
              </a:rPr>
              <a:t>2 · ESTE AÑO HASTA AHORA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es-VE">
                <a:solidFill>
                  <a:srgbClr val="5B6168"/>
                </a:solidFill>
              </a:rPr>
              <a:t>JRC ASAP, 11–20 de octubre de 2026: puntaje z de la FPAR de MODIS sobre cultivos; el umbral de alerta de ASAP es −1.</a:t>
            </a:r>
          </a:p>
        </p:txBody>
      </p:sp>
      <p:pic>
        <p:nvPicPr>
          <p:cNvPr id="5" name="Picture 4" descr="veg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318294" cy="4343400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6400800" y="22860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000" lang="es-VE">
                <a:solidFill>
                  <a:srgbClr val="1F2328"/>
                </a:solidFill>
              </a:rPr>
              <a:t>Cultivos por debajo de lo normal en 15 de 23 estados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000" lang="es-VE">
                <a:solidFill>
                  <a:srgbClr val="1F2328"/>
                </a:solidFill>
              </a:rPr>
              <a:t>FEWS NET (agosto): déficits localizados de humedad del suelo en zonas de secano, sin pérdidas importantes de cultivos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Guri está casi lleno (270,2 m); bajadas como tras otros años de El Niño lo llevarían a 250–261 m en mayo de 2027</a:t>
            </a:r>
          </a:p>
        </p:txBody>
      </p:sp>
      <p:sp>
        <p:nvSpPr>
          <p:cNvPr id="3" name="Part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es-VE">
                <a:solidFill>
                  <a:srgbClr val="B5541B"/>
                </a:solidFill>
              </a:rPr>
              <a:t>2 · ESTE AÑO HASTA AHORA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es-VE">
                <a:solidFill>
                  <a:srgbClr val="5B6168"/>
                </a:solidFill>
              </a:rPr>
              <a:t>El extremo inferior queda 2 m por encima del mínimo de 2010. Cuánto baje depende también del agua que se turbine para generar electricidad. Altimetría satelital NASA G-REALM.</a:t>
            </a:r>
          </a:p>
        </p:txBody>
      </p:sp>
      <p:pic>
        <p:nvPicPr>
          <p:cNvPr id="5" name="Picture 4" descr="gu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874519"/>
            <a:ext cx="9047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SEAS5, octubre de 2026: uno de los pronósticos más secos para octubre–febrero desde 1981, allí donde es temporada de lluvias</a:t>
            </a:r>
          </a:p>
        </p:txBody>
      </p:sp>
      <p:sp>
        <p:nvSpPr>
          <p:cNvPr id="3" name="Part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es-VE">
                <a:solidFill>
                  <a:srgbClr val="B5541B"/>
                </a:solidFill>
              </a:rPr>
              <a:t>3 · EL PRONÓSTICO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es-VE">
                <a:solidFill>
                  <a:srgbClr val="5B6168"/>
                </a:solidFill>
              </a:rPr>
              <a:t>SEAS5 de ECMWF, emitido en octubre de 2026, sin tendencia; clases como en el visor seas5-skill del equipo.</a:t>
            </a:r>
          </a:p>
        </p:txBody>
      </p:sp>
      <p:pic>
        <p:nvPicPr>
          <p:cNvPr id="5" name="Picture 4" descr="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7772400" cy="3168341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8503920" y="201168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1700" lang="es-VE">
                <a:solidFill>
                  <a:srgbClr val="1F2328"/>
                </a:solidFill>
              </a:rPr>
              <a:t>Todos los estados y trimestres de temporada de lluvias (45 en total) están entre el 10% más seco de los pronósticos desde 1981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1700" lang="es-VE">
                <a:solidFill>
                  <a:srgbClr val="1F2328"/>
                </a:solidFill>
              </a:rPr>
              <a:t>El pronóstico tiene destreza para estos meses (correlación 0,4–0,7)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1700" lang="es-VE">
                <a:solidFill>
                  <a:srgbClr val="1F2328"/>
                </a:solidFill>
              </a:rPr>
              <a:t>ECMWF emite un pronóstico nuevo cada 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Los meses del pronóstico abarcan la siembra de verano de maíz y arroz y la cosecha de café y caña de azúcar</a:t>
            </a:r>
          </a:p>
        </p:txBody>
      </p:sp>
      <p:sp>
        <p:nvSpPr>
          <p:cNvPr id="3" name="Part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es-VE">
                <a:solidFill>
                  <a:srgbClr val="B5541B"/>
                </a:solidFill>
              </a:rPr>
              <a:t>3 · EL PRONÓSTICO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lang="es-VE">
                <a:solidFill>
                  <a:srgbClr val="5B6168"/>
                </a:solidFill>
              </a:rPr>
              <a:t>FEWS NET: calendario estacional (página de Venezuela, en inglés) e informe sobre El Niño, agosto de 2026.</a:t>
            </a:r>
          </a:p>
        </p:txBody>
      </p:sp>
      <p:pic>
        <p:nvPicPr>
          <p:cNvPr id="5" name="Picture 4" descr="ve_seasonal_calendar_r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7498079" cy="3740708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8321040" y="201168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1700" lang="es-VE">
                <a:solidFill>
                  <a:srgbClr val="1F2328"/>
                </a:solidFill>
              </a:rPr>
              <a:t>FEWS NET prevé resultados de Estrés (Fase 2 de la CIF) de octubre de 2026 a enero de 2027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1700" lang="es-VE">
                <a:solidFill>
                  <a:srgbClr val="1F2328"/>
                </a:solidFill>
              </a:rPr>
              <a:t>Prevé pérdidas localizadas en secano con impacto limitado, dado el riego y las importaciones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1700" lang="es-VE">
                <a:solidFill>
                  <a:srgbClr val="1F2328"/>
                </a:solidFill>
              </a:rPr>
              <a:t>Sitúa el pico de necesidades en agosto–octubre de 2026, por el terremoto y la economía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85800"/>
            <a:ext cx="11064240" cy="1051560"/>
          </a:xfrm>
        </p:spPr>
        <p:txBody>
          <a:bodyPr anchor="t" wrap="square">
            <a:normAutofit/>
          </a:bodyPr>
          <a:lstStyle/>
          <a:p>
            <a:r>
              <a:rPr lang="es-VE">
                <a:solidFill>
                  <a:srgbClr val="1F2328"/>
                </a:solidFill>
              </a:rPr>
              <a:t>Qué vigilar a continuación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548640" y="192024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400" lang="es-VE">
                <a:solidFill>
                  <a:srgbClr val="1F2328"/>
                </a:solidFill>
              </a:rPr>
              <a:t>El pronóstico SEAS5 de noviembre, a principios de noviembre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400" lang="es-VE">
                <a:solidFill>
                  <a:srgbClr val="1F2328"/>
                </a:solidFill>
              </a:rPr>
              <a:t>La lluvia de octubre, de CHIRPS y ERA5 en noviembre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400" lang="es-VE">
                <a:solidFill>
                  <a:srgbClr val="1F2328"/>
                </a:solidFill>
              </a:rPr>
              <a:t>El nivel del embalse de Guri durante la estación seca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400" lang="es-VE">
                <a:solidFill>
                  <a:srgbClr val="1F2328"/>
                </a:solidFill>
              </a:rPr>
              <a:t>Alertas en los cultivos del noroeste y el nordeste (JRC ASAP, cada diez días)</a:t>
            </a:r>
          </a:p>
        </p:txBody>
      </p:sp>
      <p:sp>
        <p:nvSpPr>
          <p:cNvPr id="4" name="Link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lang="es-VE">
                <a:solidFill>
                  <a:srgbClr val="5B6168"/>
                </a:solidFill>
              </a:rPr>
              <a:t>Análisis completo, en español y en inglés: </a:t>
            </a:r>
            <a:r>
              <a:rPr sz="1600" lang="es-VE">
                <a:hlinkClick r:id="rId3"/>
              </a:rPr>
              <a:t>https://ocha-dap.github.io/ds-teleconnections/enso/ven/es/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Venezuela: El Niño 2026/27</dc:title>
  <dc:subject/>
  <dc:creator>Centro de Datos Humanitarios de OCHA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es-VE</dc:language>
</cp:coreProperties>
</file>