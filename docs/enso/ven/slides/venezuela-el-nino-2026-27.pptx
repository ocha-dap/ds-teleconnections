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 of normal</c:v>
                </c:pt>
              </c:strCache>
            </c:strRef>
          </c:tx>
          <c:spPr>
            <a:solidFill>
              <a:srgbClr val="B5541B"/>
            </a:solidFill>
          </c:spPr>
          <c:cat>
            <c:strRef>
              <c:f>Sheet1!$A$2:$A$8</c:f>
              <c:strCache>
                <c:ptCount val="7"/>
                <c:pt idx="0">
                  <c:v>North-west</c:v>
                </c:pt>
                <c:pt idx="1">
                  <c:v>North-east coast</c:v>
                </c:pt>
                <c:pt idx="2">
                  <c:v>Central and eastern Llanos</c:v>
                </c:pt>
                <c:pt idx="3">
                  <c:v>Andes</c:v>
                </c:pt>
                <c:pt idx="4">
                  <c:v>Centre-north</c:v>
                </c:pt>
                <c:pt idx="5">
                  <c:v>Western Llanos</c:v>
                </c:pt>
                <c:pt idx="6">
                  <c:v>Guayana and Delta</c:v>
                </c:pt>
              </c:strCache>
            </c:strRef>
          </c:cat>
          <c:val>
            <c:numRef>
              <c:f>Sheet1!$B$2:$B$8</c:f>
              <c:numCache>
                <c:formatCode>General</c:formatCode>
                <c:ptCount val="7"/>
                <c:pt idx="0">
                  <c:v>65</c:v>
                </c:pt>
                <c:pt idx="1">
                  <c:v>68</c:v>
                </c:pt>
                <c:pt idx="2">
                  <c:v>76</c:v>
                </c:pt>
                <c:pt idx="3">
                  <c:v>78</c:v>
                </c:pt>
                <c:pt idx="4">
                  <c:v>81</c:v>
                </c:pt>
                <c:pt idx="5">
                  <c:v>83</c:v>
                </c:pt>
                <c:pt idx="6">
                  <c:v>89</c:v>
                </c:pt>
              </c:numCache>
            </c:numRef>
          </c:val>
        </c:ser>
        <c:dLbls>
          <c:numFmt formatCode="0&quot;%&quot;" sourceLinked="0"/>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solidFill>
              <a:srgbClr val="9A9993"/>
            </a:solidFill>
          </a:ln>
        </c:spPr>
        <c:crossAx val="-2113994440"/>
        <c:crosses val="autoZero"/>
        <c:auto val="1"/>
        <c:lblAlgn val="ctr"/>
        <c:lblOffset val="100"/>
        <c:noMultiLvlLbl val="0"/>
      </c:catAx>
      <c:valAx>
        <c:axId val="-2113994440"/>
        <c:scaling>
          <c:max val="100.0"/>
          <c:min val="0.0"/>
        </c:scaling>
        <c:delete val="0"/>
        <c:axPos val="b"/>
        <c:majorGridlines>
          <c:spPr>
            <a:ln>
              <a:solidFill>
                <a:srgbClr val="DCD8D2"/>
              </a:solidFill>
            </a:ln>
          </c:spPr>
        </c:majorGridlines>
        <c:numFmt formatCode="0&quot;%&quot;" sourceLinked="0"/>
        <c:majorTickMark val="out"/>
        <c:minorTickMark val="none"/>
        <c:tickLblPos val="nextTo"/>
        <c:spPr>
          <a:ln>
            <a:noFill/>
          </a:ln>
        </c:spPr>
        <c:crossAx val="-2068027336"/>
        <c:crosses val="autoZero"/>
        <c:majorUnit val="20.0"/>
      </c:valAx>
    </c:plotArea>
    <c:dispBlanksAs val="gap"/>
  </c:chart>
  <c:txPr>
    <a:bodyPr/>
    <a:lstStyle/>
    <a:p>
      <a:pPr>
        <a:defRPr sz="14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parts: what past El Niño years brought, how this year has gone so far, and the seasonal forecast for the coming months. For this season, plan on the forecast; past years are context.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for each part of the deck: what past El Niño years brought, how this year has gone, and what the forecast says. Past years are context; the forecast is what to plan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INAMEH’s zones by rainy-season onset run from early April in the far south (A) to late June on the northern coast (E). Each zone’s rainy season runs from its onset to November; its dry season from December to the onset.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Floods: DesInventar records, each year against the years around it. Guri: NASA G-REALM satellite altimetry since 1992. Vegetation: JRC ASAP FPAR, November–April, since 2000; 2023/24, a strong El Niño, was not among the poorest.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region’s total for the months so far this rain year, as a share of its 1991–2020 normal.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page also maps rangeland. ASAP updates every ten days.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Satellite heights above the EGM2008 geoid, not the operator’s gauge datum: compare falls, not levels.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October forecasts in 1997 and 2015 ranked about as dry; the rain that followed was among the driest on record in 1997 and below normal in 2015. February–April leans wet in the west and centre, where the forecast has low skill or the months fall outside the rainy season.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Calendar: https://fews.net/latin-america-and-caribbean/venezuela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Things that will change this picture over the coming weeks.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685800"/>
            <a:ext cx="11064240" cy="1051560"/>
          </a:xfrm>
          <a:prstGeom prst="rect">
            <a:avLst/>
          </a:prstGeom>
        </p:spPr>
        <p:txBody>
          <a:bodyPr vert="horz" lIns="91440" tIns="45720" rIns="91440" bIns="45720" rtlCol="0" anchor="t">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6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https://ocha-dap.github.io/ds-teleconnections/enso/v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A2414"/>
        </a:solidFill>
        <a:effectLst/>
      </p:bgPr>
    </p:bg>
    <p:spTree>
      <p:nvGrpSpPr>
        <p:cNvPr id="1" name=""/>
        <p:cNvGrpSpPr/>
        <p:nvPr/>
      </p:nvGrpSpPr>
      <p:grpSpPr/>
      <p:sp>
        <p:nvSpPr>
          <p:cNvPr id="2" name="Title 1"/>
          <p:cNvSpPr>
            <a:spLocks noGrp="1"/>
          </p:cNvSpPr>
          <p:nvPr>
            <p:ph type="ctrTitle"/>
          </p:nvPr>
        </p:nvSpPr>
        <p:spPr>
          <a:xfrm>
            <a:off x="914400" y="1920240"/>
            <a:ext cx="10332720" cy="1371600"/>
          </a:xfrm>
        </p:spPr>
        <p:txBody>
          <a:bodyPr/>
          <a:lstStyle/>
          <a:p>
            <a:pPr algn="l"/>
            <a:r>
              <a:rPr sz="4800">
                <a:solidFill>
                  <a:srgbClr val="FBF7F2"/>
                </a:solidFill>
              </a:rPr>
              <a:t>Venezuela: El Niño 2026/27</a:t>
            </a:r>
          </a:p>
        </p:txBody>
      </p:sp>
      <p:sp>
        <p:nvSpPr>
          <p:cNvPr id="3" name="Subtitle 2"/>
          <p:cNvSpPr>
            <a:spLocks noGrp="1"/>
          </p:cNvSpPr>
          <p:nvPr>
            <p:ph type="subTitle" idx="1"/>
          </p:nvPr>
        </p:nvSpPr>
        <p:spPr>
          <a:xfrm>
            <a:off x="914400" y="3429000"/>
            <a:ext cx="10332720" cy="1463040"/>
          </a:xfrm>
        </p:spPr>
        <p:txBody>
          <a:bodyPr/>
          <a:lstStyle/>
          <a:p>
            <a:pPr algn="l"/>
            <a:r>
              <a:rPr sz="2200">
                <a:solidFill>
                  <a:srgbClr val="E9DCCD"/>
                </a:solidFill>
              </a:rPr>
              <a:t>What past El Niño years brought, how this year has gone so far, and the forecast for the coming months</a:t>
            </a:r>
          </a:p>
        </p:txBody>
      </p:sp>
      <p:sp>
        <p:nvSpPr>
          <p:cNvPr id="4" name="Byline"/>
          <p:cNvSpPr txBox="1"/>
          <p:nvPr/>
        </p:nvSpPr>
        <p:spPr>
          <a:xfrm>
            <a:off x="914400" y="5852160"/>
            <a:ext cx="10332720" cy="457200"/>
          </a:xfrm>
          <a:prstGeom prst="rect">
            <a:avLst/>
          </a:prstGeom>
          <a:noFill/>
        </p:spPr>
        <p:txBody>
          <a:bodyPr wrap="square">
            <a:spAutoFit/>
          </a:bodyPr>
          <a:lstStyle/>
          <a:p>
            <a:pPr algn="l">
              <a:spcAft>
                <a:spcPts val="600"/>
              </a:spcAft>
            </a:pPr>
            <a:r>
              <a:rPr sz="1400" b="0">
                <a:solidFill>
                  <a:srgbClr val="CDB9A4"/>
                </a:solidFill>
              </a:rPr>
              <a:t>OCHA Centre for Humanitarian Data · rain to September 2026, vegetation to 11–20 October 2026, SEAS5 issued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4"/>
        </a:solidFill>
        <a:effectLst/>
      </p:bgPr>
    </p:bg>
    <p:spTree>
      <p:nvGrpSpPr>
        <p:cNvPr id="1" name=""/>
        <p:cNvGrpSpPr/>
        <p:nvPr/>
      </p:nvGrpSpPr>
      <p:grpSpPr/>
      <p:sp>
        <p:nvSpPr>
          <p:cNvPr id="2" name="Title 1"/>
          <p:cNvSpPr>
            <a:spLocks noGrp="1"/>
          </p:cNvSpPr>
          <p:nvPr>
            <p:ph type="title"/>
          </p:nvPr>
        </p:nvSpPr>
        <p:spPr>
          <a:xfrm>
            <a:off x="548640" y="685800"/>
            <a:ext cx="11064240" cy="1051560"/>
          </a:xfrm>
        </p:spPr>
        <p:txBody>
          <a:bodyPr anchor="t" wrap="square">
            <a:normAutofit/>
          </a:bodyPr>
          <a:lstStyle/>
          <a:p>
            <a:r>
              <a:rPr>
                <a:solidFill>
                  <a:srgbClr val="1F2328"/>
                </a:solidFill>
              </a:rPr>
              <a:t>Summary</a:t>
            </a:r>
          </a:p>
        </p:txBody>
      </p:sp>
      <p:sp>
        <p:nvSpPr>
          <p:cNvPr id="3" name="Panel 1"/>
          <p:cNvSpPr/>
          <p:nvPr/>
        </p:nvSpPr>
        <p:spPr>
          <a:xfrm>
            <a:off x="548640" y="1828800"/>
            <a:ext cx="11064240" cy="1234440"/>
          </a:xfrm>
          <a:prstGeom prst="rect">
            <a:avLst/>
          </a:prstGeom>
          <a:solidFill>
            <a:srgbClr val="F1E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Number 1"/>
          <p:cNvSpPr txBox="1"/>
          <p:nvPr/>
        </p:nvSpPr>
        <p:spPr>
          <a:xfrm>
            <a:off x="777240" y="2011680"/>
            <a:ext cx="640080" cy="822960"/>
          </a:xfrm>
          <a:prstGeom prst="rect">
            <a:avLst/>
          </a:prstGeom>
          <a:noFill/>
        </p:spPr>
        <p:txBody>
          <a:bodyPr wrap="square">
            <a:spAutoFit/>
          </a:bodyPr>
          <a:lstStyle/>
          <a:p>
            <a:pPr algn="l">
              <a:spcAft>
                <a:spcPts val="600"/>
              </a:spcAft>
            </a:pPr>
            <a:r>
              <a:rPr sz="4000" b="1">
                <a:solidFill>
                  <a:srgbClr val="B5541B"/>
                </a:solidFill>
              </a:rPr>
              <a:t>1</a:t>
            </a:r>
          </a:p>
        </p:txBody>
      </p:sp>
      <p:sp>
        <p:nvSpPr>
          <p:cNvPr id="5" name="Heading 1"/>
          <p:cNvSpPr txBox="1"/>
          <p:nvPr/>
        </p:nvSpPr>
        <p:spPr>
          <a:xfrm>
            <a:off x="1554480" y="1965960"/>
            <a:ext cx="2743200" cy="1005840"/>
          </a:xfrm>
          <a:prstGeom prst="rect">
            <a:avLst/>
          </a:prstGeom>
          <a:noFill/>
        </p:spPr>
        <p:txBody>
          <a:bodyPr wrap="square">
            <a:spAutoFit/>
          </a:bodyPr>
          <a:lstStyle/>
          <a:p>
            <a:pPr algn="l">
              <a:spcAft>
                <a:spcPts val="600"/>
              </a:spcAft>
            </a:pPr>
            <a:r>
              <a:rPr sz="2000" b="1">
                <a:solidFill>
                  <a:srgbClr val="1F2328"/>
                </a:solidFill>
              </a:rPr>
              <a:t>Past El Niño years</a:t>
            </a:r>
          </a:p>
        </p:txBody>
      </p:sp>
      <p:sp>
        <p:nvSpPr>
          <p:cNvPr id="6" name="Text 1"/>
          <p:cNvSpPr txBox="1"/>
          <p:nvPr/>
        </p:nvSpPr>
        <p:spPr>
          <a:xfrm>
            <a:off x="4206240" y="1965960"/>
            <a:ext cx="7223760" cy="1051560"/>
          </a:xfrm>
          <a:prstGeom prst="rect">
            <a:avLst/>
          </a:prstGeom>
          <a:noFill/>
        </p:spPr>
        <p:txBody>
          <a:bodyPr wrap="square">
            <a:spAutoFit/>
          </a:bodyPr>
          <a:lstStyle/>
          <a:p>
            <a:pPr algn="l">
              <a:spcAft>
                <a:spcPts val="600"/>
              </a:spcAft>
            </a:pPr>
            <a:r>
              <a:rPr sz="1700" b="0">
                <a:solidFill>
                  <a:srgbClr val="1F2328"/>
                </a:solidFill>
              </a:rPr>
              <a:t>A drier dry season in the south (21–33% less rain) and weaker rains in the north (8–19% less); fewer flood reports; the Guri reservoir fell further.</a:t>
            </a:r>
          </a:p>
        </p:txBody>
      </p:sp>
      <p:sp>
        <p:nvSpPr>
          <p:cNvPr id="7" name="Panel 2"/>
          <p:cNvSpPr/>
          <p:nvPr/>
        </p:nvSpPr>
        <p:spPr>
          <a:xfrm>
            <a:off x="548640" y="3246120"/>
            <a:ext cx="11064240" cy="1234440"/>
          </a:xfrm>
          <a:prstGeom prst="rect">
            <a:avLst/>
          </a:prstGeom>
          <a:solidFill>
            <a:srgbClr val="F1E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Number 2"/>
          <p:cNvSpPr txBox="1"/>
          <p:nvPr/>
        </p:nvSpPr>
        <p:spPr>
          <a:xfrm>
            <a:off x="777240" y="3429000"/>
            <a:ext cx="640080" cy="822960"/>
          </a:xfrm>
          <a:prstGeom prst="rect">
            <a:avLst/>
          </a:prstGeom>
          <a:noFill/>
        </p:spPr>
        <p:txBody>
          <a:bodyPr wrap="square">
            <a:spAutoFit/>
          </a:bodyPr>
          <a:lstStyle/>
          <a:p>
            <a:pPr algn="l">
              <a:spcAft>
                <a:spcPts val="600"/>
              </a:spcAft>
            </a:pPr>
            <a:r>
              <a:rPr sz="4000" b="1">
                <a:solidFill>
                  <a:srgbClr val="B5541B"/>
                </a:solidFill>
              </a:rPr>
              <a:t>2</a:t>
            </a:r>
          </a:p>
        </p:txBody>
      </p:sp>
      <p:sp>
        <p:nvSpPr>
          <p:cNvPr id="9" name="Heading 2"/>
          <p:cNvSpPr txBox="1"/>
          <p:nvPr/>
        </p:nvSpPr>
        <p:spPr>
          <a:xfrm>
            <a:off x="1554480" y="3383279"/>
            <a:ext cx="2743200" cy="1005840"/>
          </a:xfrm>
          <a:prstGeom prst="rect">
            <a:avLst/>
          </a:prstGeom>
          <a:noFill/>
        </p:spPr>
        <p:txBody>
          <a:bodyPr wrap="square">
            <a:spAutoFit/>
          </a:bodyPr>
          <a:lstStyle/>
          <a:p>
            <a:pPr algn="l">
              <a:spcAft>
                <a:spcPts val="600"/>
              </a:spcAft>
            </a:pPr>
            <a:r>
              <a:rPr sz="2000" b="1">
                <a:solidFill>
                  <a:srgbClr val="1F2328"/>
                </a:solidFill>
              </a:rPr>
              <a:t>This year so far</a:t>
            </a:r>
          </a:p>
        </p:txBody>
      </p:sp>
      <p:sp>
        <p:nvSpPr>
          <p:cNvPr id="10" name="Text 2"/>
          <p:cNvSpPr txBox="1"/>
          <p:nvPr/>
        </p:nvSpPr>
        <p:spPr>
          <a:xfrm>
            <a:off x="4206240" y="3383279"/>
            <a:ext cx="7223760" cy="1051560"/>
          </a:xfrm>
          <a:prstGeom prst="rect">
            <a:avLst/>
          </a:prstGeom>
          <a:noFill/>
        </p:spPr>
        <p:txBody>
          <a:bodyPr wrap="square">
            <a:spAutoFit/>
          </a:bodyPr>
          <a:lstStyle/>
          <a:p>
            <a:pPr algn="l">
              <a:spcAft>
                <a:spcPts val="600"/>
              </a:spcAft>
            </a:pPr>
            <a:r>
              <a:rPr sz="1700" b="0">
                <a:solidFill>
                  <a:srgbClr val="1F2328"/>
                </a:solidFill>
              </a:rPr>
              <a:t>May–September rain was 65–89% of normal, among the five driest since 1981. Cropland is below the warning level in Sucre, Zulia and Falcón. Guri is near full.</a:t>
            </a:r>
          </a:p>
        </p:txBody>
      </p:sp>
      <p:sp>
        <p:nvSpPr>
          <p:cNvPr id="11" name="Panel 3"/>
          <p:cNvSpPr/>
          <p:nvPr/>
        </p:nvSpPr>
        <p:spPr>
          <a:xfrm>
            <a:off x="548640" y="4663440"/>
            <a:ext cx="11064240" cy="1234440"/>
          </a:xfrm>
          <a:prstGeom prst="rect">
            <a:avLst/>
          </a:prstGeom>
          <a:solidFill>
            <a:srgbClr val="F1E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Number 3"/>
          <p:cNvSpPr txBox="1"/>
          <p:nvPr/>
        </p:nvSpPr>
        <p:spPr>
          <a:xfrm>
            <a:off x="777240" y="4846320"/>
            <a:ext cx="640080" cy="822960"/>
          </a:xfrm>
          <a:prstGeom prst="rect">
            <a:avLst/>
          </a:prstGeom>
          <a:noFill/>
        </p:spPr>
        <p:txBody>
          <a:bodyPr wrap="square">
            <a:spAutoFit/>
          </a:bodyPr>
          <a:lstStyle/>
          <a:p>
            <a:pPr algn="l">
              <a:spcAft>
                <a:spcPts val="600"/>
              </a:spcAft>
            </a:pPr>
            <a:r>
              <a:rPr sz="4000" b="1">
                <a:solidFill>
                  <a:srgbClr val="B5541B"/>
                </a:solidFill>
              </a:rPr>
              <a:t>3</a:t>
            </a:r>
          </a:p>
        </p:txBody>
      </p:sp>
      <p:sp>
        <p:nvSpPr>
          <p:cNvPr id="13" name="Heading 3"/>
          <p:cNvSpPr txBox="1"/>
          <p:nvPr/>
        </p:nvSpPr>
        <p:spPr>
          <a:xfrm>
            <a:off x="1554480" y="4800600"/>
            <a:ext cx="2743200" cy="1005840"/>
          </a:xfrm>
          <a:prstGeom prst="rect">
            <a:avLst/>
          </a:prstGeom>
          <a:noFill/>
        </p:spPr>
        <p:txBody>
          <a:bodyPr wrap="square">
            <a:spAutoFit/>
          </a:bodyPr>
          <a:lstStyle/>
          <a:p>
            <a:pPr algn="l">
              <a:spcAft>
                <a:spcPts val="600"/>
              </a:spcAft>
            </a:pPr>
            <a:r>
              <a:rPr sz="2000" b="1">
                <a:solidFill>
                  <a:srgbClr val="1F2328"/>
                </a:solidFill>
              </a:rPr>
              <a:t>The forecast</a:t>
            </a:r>
          </a:p>
        </p:txBody>
      </p:sp>
      <p:sp>
        <p:nvSpPr>
          <p:cNvPr id="14" name="Text 3"/>
          <p:cNvSpPr txBox="1"/>
          <p:nvPr/>
        </p:nvSpPr>
        <p:spPr>
          <a:xfrm>
            <a:off x="4206240" y="4800600"/>
            <a:ext cx="7223760" cy="1051560"/>
          </a:xfrm>
          <a:prstGeom prst="rect">
            <a:avLst/>
          </a:prstGeom>
          <a:noFill/>
        </p:spPr>
        <p:txBody>
          <a:bodyPr wrap="square">
            <a:spAutoFit/>
          </a:bodyPr>
          <a:lstStyle/>
          <a:p>
            <a:pPr algn="l">
              <a:spcAft>
                <a:spcPts val="600"/>
              </a:spcAft>
            </a:pPr>
            <a:r>
              <a:rPr sz="1700" b="0">
                <a:solidFill>
                  <a:srgbClr val="1F2328"/>
                </a:solidFill>
              </a:rPr>
              <a:t>SEAS5 (October 2026): October–February among the driest 10% of forecasts since 1981, wherever it is the rainy season. For this season, plan on the forecast.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4"/>
        </a:solidFill>
        <a:effectLst/>
      </p:bgPr>
    </p:bg>
    <p:spTree>
      <p:nvGrpSpPr>
        <p:cNvPr id="1" name=""/>
        <p:cNvGrpSpPr/>
        <p:nvPr/>
      </p:nvGrpSpPr>
      <p:grpSpPr/>
      <p:sp>
        <p:nvSpPr>
          <p:cNvPr id="2" name="Title 1"/>
          <p:cNvSpPr>
            <a:spLocks noGrp="1"/>
          </p:cNvSpPr>
          <p:nvPr>
            <p:ph type="title"/>
          </p:nvPr>
        </p:nvSpPr>
        <p:spPr>
          <a:xfrm>
            <a:off x="548640" y="685800"/>
            <a:ext cx="11064240" cy="1051560"/>
          </a:xfrm>
        </p:spPr>
        <p:txBody>
          <a:bodyPr anchor="t" wrap="square">
            <a:normAutofit/>
          </a:bodyPr>
          <a:lstStyle/>
          <a:p>
            <a:r>
              <a:rPr>
                <a:solidFill>
                  <a:srgbClr val="1F2328"/>
                </a:solidFill>
              </a:rPr>
              <a:t>In past El Niño years, the dry season was drier in the south and the rains weaker in the north</a:t>
            </a:r>
          </a:p>
        </p:txBody>
      </p:sp>
      <p:sp>
        <p:nvSpPr>
          <p:cNvPr id="3" name="Part"/>
          <p:cNvSpPr txBox="1"/>
          <p:nvPr/>
        </p:nvSpPr>
        <p:spPr>
          <a:xfrm>
            <a:off x="548640" y="320040"/>
            <a:ext cx="7315200" cy="365760"/>
          </a:xfrm>
          <a:prstGeom prst="rect">
            <a:avLst/>
          </a:prstGeom>
          <a:noFill/>
        </p:spPr>
        <p:txBody>
          <a:bodyPr wrap="square">
            <a:spAutoFit/>
          </a:bodyPr>
          <a:lstStyle/>
          <a:p>
            <a:pPr algn="l">
              <a:spcAft>
                <a:spcPts val="600"/>
              </a:spcAft>
            </a:pPr>
            <a:r>
              <a:rPr sz="1400" b="1">
                <a:solidFill>
                  <a:srgbClr val="B5541B"/>
                </a:solidFill>
              </a:rPr>
              <a:t>1 · PAST EL NIÑO YEARS</a:t>
            </a:r>
          </a:p>
        </p:txBody>
      </p:sp>
      <p:sp>
        <p:nvSpPr>
          <p:cNvPr id="4" name="Source"/>
          <p:cNvSpPr txBox="1"/>
          <p:nvPr/>
        </p:nvSpPr>
        <p:spPr>
          <a:xfrm>
            <a:off x="548640" y="6263640"/>
            <a:ext cx="11064240" cy="411480"/>
          </a:xfrm>
          <a:prstGeom prst="rect">
            <a:avLst/>
          </a:prstGeom>
          <a:noFill/>
        </p:spPr>
        <p:txBody>
          <a:bodyPr wrap="square">
            <a:spAutoFit/>
          </a:bodyPr>
          <a:lstStyle/>
          <a:p>
            <a:pPr algn="l">
              <a:spcAft>
                <a:spcPts val="600"/>
              </a:spcAft>
            </a:pPr>
            <a:r>
              <a:rPr sz="1200" b="0">
                <a:solidFill>
                  <a:srgbClr val="5B6168"/>
                </a:solidFill>
              </a:rPr>
              <a:t>Medians over the 15 El Niño years since 1981. Zones: INAMEH’s map of rainy-season onset. Rain: CHIRPS v3.</a:t>
            </a:r>
          </a:p>
        </p:txBody>
      </p:sp>
      <p:pic>
        <p:nvPicPr>
          <p:cNvPr id="5" name="Picture 4" descr="zone_map.png"/>
          <p:cNvPicPr>
            <a:picLocks noChangeAspect="1"/>
          </p:cNvPicPr>
          <p:nvPr/>
        </p:nvPicPr>
        <p:blipFill>
          <a:blip r:embed="rId3"/>
          <a:stretch>
            <a:fillRect/>
          </a:stretch>
        </p:blipFill>
        <p:spPr>
          <a:xfrm>
            <a:off x="548640" y="1828800"/>
            <a:ext cx="5111924" cy="4343400"/>
          </a:xfrm>
          <a:prstGeom prst="rect">
            <a:avLst/>
          </a:prstGeom>
        </p:spPr>
      </p:pic>
      <p:sp>
        <p:nvSpPr>
          <p:cNvPr id="6" name="Figure 1"/>
          <p:cNvSpPr txBox="1"/>
          <p:nvPr/>
        </p:nvSpPr>
        <p:spPr>
          <a:xfrm>
            <a:off x="6400800" y="2103120"/>
            <a:ext cx="5212080" cy="914400"/>
          </a:xfrm>
          <a:prstGeom prst="rect">
            <a:avLst/>
          </a:prstGeom>
          <a:noFill/>
        </p:spPr>
        <p:txBody>
          <a:bodyPr wrap="square">
            <a:spAutoFit/>
          </a:bodyPr>
          <a:lstStyle/>
          <a:p>
            <a:pPr algn="l">
              <a:spcAft>
                <a:spcPts val="600"/>
              </a:spcAft>
            </a:pPr>
            <a:r>
              <a:rPr sz="5400" b="1">
                <a:solidFill>
                  <a:srgbClr val="B5541B"/>
                </a:solidFill>
              </a:rPr>
              <a:t>21–33%</a:t>
            </a:r>
          </a:p>
        </p:txBody>
      </p:sp>
      <p:sp>
        <p:nvSpPr>
          <p:cNvPr id="7" name="Label 1"/>
          <p:cNvSpPr txBox="1"/>
          <p:nvPr/>
        </p:nvSpPr>
        <p:spPr>
          <a:xfrm>
            <a:off x="6400800" y="3017520"/>
            <a:ext cx="5212080" cy="822960"/>
          </a:xfrm>
          <a:prstGeom prst="rect">
            <a:avLst/>
          </a:prstGeom>
          <a:noFill/>
        </p:spPr>
        <p:txBody>
          <a:bodyPr wrap="square">
            <a:spAutoFit/>
          </a:bodyPr>
          <a:lstStyle/>
          <a:p>
            <a:pPr algn="l">
              <a:spcAft>
                <a:spcPts val="600"/>
              </a:spcAft>
            </a:pPr>
            <a:r>
              <a:rPr sz="2000" b="0">
                <a:solidFill>
                  <a:srgbClr val="1F2328"/>
                </a:solidFill>
              </a:rPr>
              <a:t>less dry-season rain in the south (zones A and B)</a:t>
            </a:r>
          </a:p>
        </p:txBody>
      </p:sp>
      <p:sp>
        <p:nvSpPr>
          <p:cNvPr id="8" name="Figure 2"/>
          <p:cNvSpPr txBox="1"/>
          <p:nvPr/>
        </p:nvSpPr>
        <p:spPr>
          <a:xfrm>
            <a:off x="6400800" y="4069079"/>
            <a:ext cx="5212080" cy="914400"/>
          </a:xfrm>
          <a:prstGeom prst="rect">
            <a:avLst/>
          </a:prstGeom>
          <a:noFill/>
        </p:spPr>
        <p:txBody>
          <a:bodyPr wrap="square">
            <a:spAutoFit/>
          </a:bodyPr>
          <a:lstStyle/>
          <a:p>
            <a:pPr algn="l">
              <a:spcAft>
                <a:spcPts val="600"/>
              </a:spcAft>
            </a:pPr>
            <a:r>
              <a:rPr sz="5400" b="1">
                <a:solidFill>
                  <a:srgbClr val="B5541B"/>
                </a:solidFill>
              </a:rPr>
              <a:t>8–19%</a:t>
            </a:r>
          </a:p>
        </p:txBody>
      </p:sp>
      <p:sp>
        <p:nvSpPr>
          <p:cNvPr id="9" name="Label 2"/>
          <p:cNvSpPr txBox="1"/>
          <p:nvPr/>
        </p:nvSpPr>
        <p:spPr>
          <a:xfrm>
            <a:off x="6400800" y="4983479"/>
            <a:ext cx="5212080" cy="822960"/>
          </a:xfrm>
          <a:prstGeom prst="rect">
            <a:avLst/>
          </a:prstGeom>
          <a:noFill/>
        </p:spPr>
        <p:txBody>
          <a:bodyPr wrap="square">
            <a:spAutoFit/>
          </a:bodyPr>
          <a:lstStyle/>
          <a:p>
            <a:pPr algn="l">
              <a:spcAft>
                <a:spcPts val="600"/>
              </a:spcAft>
            </a:pPr>
            <a:r>
              <a:rPr sz="2000" b="0">
                <a:solidFill>
                  <a:srgbClr val="1F2328"/>
                </a:solidFill>
              </a:rPr>
              <a:t>less rainy-season rain in the north (zones C to 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4"/>
        </a:solidFill>
        <a:effectLst/>
      </p:bgPr>
    </p:bg>
    <p:spTree>
      <p:nvGrpSpPr>
        <p:cNvPr id="1" name=""/>
        <p:cNvGrpSpPr/>
        <p:nvPr/>
      </p:nvGrpSpPr>
      <p:grpSpPr/>
      <p:sp>
        <p:nvSpPr>
          <p:cNvPr id="2" name="Title 1"/>
          <p:cNvSpPr>
            <a:spLocks noGrp="1"/>
          </p:cNvSpPr>
          <p:nvPr>
            <p:ph type="title"/>
          </p:nvPr>
        </p:nvSpPr>
        <p:spPr>
          <a:xfrm>
            <a:off x="548640" y="685800"/>
            <a:ext cx="11064240" cy="1051560"/>
          </a:xfrm>
        </p:spPr>
        <p:txBody>
          <a:bodyPr anchor="t" wrap="square">
            <a:normAutofit/>
          </a:bodyPr>
          <a:lstStyle/>
          <a:p>
            <a:r>
              <a:rPr>
                <a:solidFill>
                  <a:srgbClr val="1F2328"/>
                </a:solidFill>
              </a:rPr>
              <a:t>El Niño years also had fewer flood reports, a larger fall in the Guri reservoir and poorer dry-season vegetation</a:t>
            </a:r>
          </a:p>
        </p:txBody>
      </p:sp>
      <p:sp>
        <p:nvSpPr>
          <p:cNvPr id="3" name="Part"/>
          <p:cNvSpPr txBox="1"/>
          <p:nvPr/>
        </p:nvSpPr>
        <p:spPr>
          <a:xfrm>
            <a:off x="548640" y="320040"/>
            <a:ext cx="7315200" cy="365760"/>
          </a:xfrm>
          <a:prstGeom prst="rect">
            <a:avLst/>
          </a:prstGeom>
          <a:noFill/>
        </p:spPr>
        <p:txBody>
          <a:bodyPr wrap="square">
            <a:spAutoFit/>
          </a:bodyPr>
          <a:lstStyle/>
          <a:p>
            <a:pPr algn="l">
              <a:spcAft>
                <a:spcPts val="600"/>
              </a:spcAft>
            </a:pPr>
            <a:r>
              <a:rPr sz="1400" b="1">
                <a:solidFill>
                  <a:srgbClr val="B5541B"/>
                </a:solidFill>
              </a:rPr>
              <a:t>1 · PAST EL NIÑO YEARS</a:t>
            </a:r>
          </a:p>
        </p:txBody>
      </p:sp>
      <p:sp>
        <p:nvSpPr>
          <p:cNvPr id="4" name="Source"/>
          <p:cNvSpPr txBox="1"/>
          <p:nvPr/>
        </p:nvSpPr>
        <p:spPr>
          <a:xfrm>
            <a:off x="548640" y="6263640"/>
            <a:ext cx="11064240" cy="411480"/>
          </a:xfrm>
          <a:prstGeom prst="rect">
            <a:avLst/>
          </a:prstGeom>
          <a:noFill/>
        </p:spPr>
        <p:txBody>
          <a:bodyPr wrap="square">
            <a:spAutoFit/>
          </a:bodyPr>
          <a:lstStyle/>
          <a:p>
            <a:pPr algn="l">
              <a:spcAft>
                <a:spcPts val="600"/>
              </a:spcAft>
            </a:pPr>
            <a:r>
              <a:rPr sz="1200" b="0">
                <a:solidFill>
                  <a:srgbClr val="5B6168"/>
                </a:solidFill>
              </a:rPr>
              <a:t>Harvests show no clear link with El Niño (FAOSTAT maize and rice yields).</a:t>
            </a:r>
          </a:p>
        </p:txBody>
      </p:sp>
      <p:sp>
        <p:nvSpPr>
          <p:cNvPr id="5" name="Card 1"/>
          <p:cNvSpPr/>
          <p:nvPr/>
        </p:nvSpPr>
        <p:spPr>
          <a:xfrm>
            <a:off x="548640" y="2103120"/>
            <a:ext cx="3520440" cy="3566160"/>
          </a:xfrm>
          <a:prstGeom prst="rect">
            <a:avLst/>
          </a:prstGeom>
          <a:solidFill>
            <a:srgbClr val="F1E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Figure 1"/>
          <p:cNvSpPr txBox="1"/>
          <p:nvPr/>
        </p:nvSpPr>
        <p:spPr>
          <a:xfrm>
            <a:off x="822959" y="2377440"/>
            <a:ext cx="3017520" cy="914400"/>
          </a:xfrm>
          <a:prstGeom prst="rect">
            <a:avLst/>
          </a:prstGeom>
          <a:noFill/>
        </p:spPr>
        <p:txBody>
          <a:bodyPr wrap="square">
            <a:spAutoFit/>
          </a:bodyPr>
          <a:lstStyle/>
          <a:p>
            <a:pPr algn="l">
              <a:spcAft>
                <a:spcPts val="600"/>
              </a:spcAft>
            </a:pPr>
            <a:r>
              <a:rPr sz="4000" b="1">
                <a:solidFill>
                  <a:srgbClr val="B5541B"/>
                </a:solidFill>
              </a:rPr>
              <a:t>30–64%</a:t>
            </a:r>
          </a:p>
        </p:txBody>
      </p:sp>
      <p:sp>
        <p:nvSpPr>
          <p:cNvPr id="7" name="Label 1"/>
          <p:cNvSpPr txBox="1"/>
          <p:nvPr/>
        </p:nvSpPr>
        <p:spPr>
          <a:xfrm>
            <a:off x="822959" y="3429000"/>
            <a:ext cx="3017520" cy="2103120"/>
          </a:xfrm>
          <a:prstGeom prst="rect">
            <a:avLst/>
          </a:prstGeom>
          <a:noFill/>
        </p:spPr>
        <p:txBody>
          <a:bodyPr wrap="square">
            <a:spAutoFit/>
          </a:bodyPr>
          <a:lstStyle/>
          <a:p>
            <a:pPr algn="l">
              <a:spcAft>
                <a:spcPts val="600"/>
              </a:spcAft>
            </a:pPr>
            <a:r>
              <a:rPr sz="1800" b="0">
                <a:solidFill>
                  <a:srgbClr val="1F2328"/>
                </a:solidFill>
              </a:rPr>
              <a:t>fewer flood and landslide reports in a typical El Niño year (DesInventar, 1975–2013)</a:t>
            </a:r>
          </a:p>
        </p:txBody>
      </p:sp>
      <p:sp>
        <p:nvSpPr>
          <p:cNvPr id="8" name="Card 2"/>
          <p:cNvSpPr/>
          <p:nvPr/>
        </p:nvSpPr>
        <p:spPr>
          <a:xfrm>
            <a:off x="4297679" y="2103120"/>
            <a:ext cx="3520440" cy="3566160"/>
          </a:xfrm>
          <a:prstGeom prst="rect">
            <a:avLst/>
          </a:prstGeom>
          <a:solidFill>
            <a:srgbClr val="F1E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Figure 2"/>
          <p:cNvSpPr txBox="1"/>
          <p:nvPr/>
        </p:nvSpPr>
        <p:spPr>
          <a:xfrm>
            <a:off x="4571999" y="2377440"/>
            <a:ext cx="3017520" cy="914400"/>
          </a:xfrm>
          <a:prstGeom prst="rect">
            <a:avLst/>
          </a:prstGeom>
          <a:noFill/>
        </p:spPr>
        <p:txBody>
          <a:bodyPr wrap="square">
            <a:spAutoFit/>
          </a:bodyPr>
          <a:lstStyle/>
          <a:p>
            <a:pPr algn="l">
              <a:spcAft>
                <a:spcPts val="600"/>
              </a:spcAft>
            </a:pPr>
            <a:r>
              <a:rPr sz="4000" b="1">
                <a:solidFill>
                  <a:srgbClr val="B5541B"/>
                </a:solidFill>
              </a:rPr>
              <a:t>14 m</a:t>
            </a:r>
          </a:p>
        </p:txBody>
      </p:sp>
      <p:sp>
        <p:nvSpPr>
          <p:cNvPr id="10" name="Label 2"/>
          <p:cNvSpPr txBox="1"/>
          <p:nvPr/>
        </p:nvSpPr>
        <p:spPr>
          <a:xfrm>
            <a:off x="4571999" y="3429000"/>
            <a:ext cx="3017520" cy="2103120"/>
          </a:xfrm>
          <a:prstGeom prst="rect">
            <a:avLst/>
          </a:prstGeom>
          <a:noFill/>
        </p:spPr>
        <p:txBody>
          <a:bodyPr wrap="square">
            <a:spAutoFit/>
          </a:bodyPr>
          <a:lstStyle/>
          <a:p>
            <a:pPr algn="l">
              <a:spcAft>
                <a:spcPts val="600"/>
              </a:spcAft>
            </a:pPr>
            <a:r>
              <a:rPr sz="1800" b="0">
                <a:solidFill>
                  <a:srgbClr val="1F2328"/>
                </a:solidFill>
              </a:rPr>
              <a:t>fall of the Guri reservoir through the dry season after a typical El Niño year, against 5 m after La Niña</a:t>
            </a:r>
          </a:p>
        </p:txBody>
      </p:sp>
      <p:sp>
        <p:nvSpPr>
          <p:cNvPr id="11" name="Card 3"/>
          <p:cNvSpPr/>
          <p:nvPr/>
        </p:nvSpPr>
        <p:spPr>
          <a:xfrm>
            <a:off x="8046719" y="2103120"/>
            <a:ext cx="3520440" cy="3566160"/>
          </a:xfrm>
          <a:prstGeom prst="rect">
            <a:avLst/>
          </a:prstGeom>
          <a:solidFill>
            <a:srgbClr val="F1ECE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Figure 3"/>
          <p:cNvSpPr txBox="1"/>
          <p:nvPr/>
        </p:nvSpPr>
        <p:spPr>
          <a:xfrm>
            <a:off x="8321040" y="2377440"/>
            <a:ext cx="3017520" cy="914400"/>
          </a:xfrm>
          <a:prstGeom prst="rect">
            <a:avLst/>
          </a:prstGeom>
          <a:noFill/>
        </p:spPr>
        <p:txBody>
          <a:bodyPr wrap="square">
            <a:spAutoFit/>
          </a:bodyPr>
          <a:lstStyle/>
          <a:p>
            <a:pPr algn="l">
              <a:spcAft>
                <a:spcPts val="600"/>
              </a:spcAft>
            </a:pPr>
            <a:r>
              <a:rPr sz="4000" b="1">
                <a:solidFill>
                  <a:srgbClr val="B5541B"/>
                </a:solidFill>
              </a:rPr>
              <a:t>3 poorest</a:t>
            </a:r>
          </a:p>
        </p:txBody>
      </p:sp>
      <p:sp>
        <p:nvSpPr>
          <p:cNvPr id="13" name="Label 3"/>
          <p:cNvSpPr txBox="1"/>
          <p:nvPr/>
        </p:nvSpPr>
        <p:spPr>
          <a:xfrm>
            <a:off x="8321040" y="3429000"/>
            <a:ext cx="3017520" cy="2103120"/>
          </a:xfrm>
          <a:prstGeom prst="rect">
            <a:avLst/>
          </a:prstGeom>
          <a:noFill/>
        </p:spPr>
        <p:txBody>
          <a:bodyPr wrap="square">
            <a:spAutoFit/>
          </a:bodyPr>
          <a:lstStyle/>
          <a:p>
            <a:pPr algn="l">
              <a:spcAft>
                <a:spcPts val="600"/>
              </a:spcAft>
            </a:pPr>
            <a:r>
              <a:rPr sz="1800" b="0">
                <a:solidFill>
                  <a:srgbClr val="1F2328"/>
                </a:solidFill>
              </a:rPr>
              <a:t>dry seasons for vegetation since 2000 all followed El Niño (2002/03, 2009/10, 2015/16)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4"/>
        </a:solidFill>
        <a:effectLst/>
      </p:bgPr>
    </p:bg>
    <p:spTree>
      <p:nvGrpSpPr>
        <p:cNvPr id="1" name=""/>
        <p:cNvGrpSpPr/>
        <p:nvPr/>
      </p:nvGrpSpPr>
      <p:grpSpPr/>
      <p:sp>
        <p:nvSpPr>
          <p:cNvPr id="2" name="Title 1"/>
          <p:cNvSpPr>
            <a:spLocks noGrp="1"/>
          </p:cNvSpPr>
          <p:nvPr>
            <p:ph type="title"/>
          </p:nvPr>
        </p:nvSpPr>
        <p:spPr>
          <a:xfrm>
            <a:off x="548640" y="685800"/>
            <a:ext cx="11064240" cy="1051560"/>
          </a:xfrm>
        </p:spPr>
        <p:txBody>
          <a:bodyPr anchor="t" wrap="square">
            <a:normAutofit/>
          </a:bodyPr>
          <a:lstStyle/>
          <a:p>
            <a:r>
              <a:rPr>
                <a:solidFill>
                  <a:srgbClr val="1F2328"/>
                </a:solidFill>
              </a:rPr>
              <a:t>May–September 2026 rain was 65–89% of normal, among the five driest since 1981</a:t>
            </a:r>
          </a:p>
        </p:txBody>
      </p:sp>
      <p:sp>
        <p:nvSpPr>
          <p:cNvPr id="3" name="Part"/>
          <p:cNvSpPr txBox="1"/>
          <p:nvPr/>
        </p:nvSpPr>
        <p:spPr>
          <a:xfrm>
            <a:off x="548640" y="320040"/>
            <a:ext cx="7315200" cy="365760"/>
          </a:xfrm>
          <a:prstGeom prst="rect">
            <a:avLst/>
          </a:prstGeom>
          <a:noFill/>
        </p:spPr>
        <p:txBody>
          <a:bodyPr wrap="square">
            <a:spAutoFit/>
          </a:bodyPr>
          <a:lstStyle/>
          <a:p>
            <a:pPr algn="l">
              <a:spcAft>
                <a:spcPts val="600"/>
              </a:spcAft>
            </a:pPr>
            <a:r>
              <a:rPr sz="1400" b="1">
                <a:solidFill>
                  <a:srgbClr val="B5541B"/>
                </a:solidFill>
              </a:rPr>
              <a:t>2 · THIS YEAR SO FAR</a:t>
            </a:r>
          </a:p>
        </p:txBody>
      </p:sp>
      <p:sp>
        <p:nvSpPr>
          <p:cNvPr id="4" name="Source"/>
          <p:cNvSpPr txBox="1"/>
          <p:nvPr/>
        </p:nvSpPr>
        <p:spPr>
          <a:xfrm>
            <a:off x="548640" y="6263640"/>
            <a:ext cx="11064240" cy="411480"/>
          </a:xfrm>
          <a:prstGeom prst="rect">
            <a:avLst/>
          </a:prstGeom>
          <a:noFill/>
        </p:spPr>
        <p:txBody>
          <a:bodyPr wrap="square">
            <a:spAutoFit/>
          </a:bodyPr>
          <a:lstStyle/>
          <a:p>
            <a:pPr algn="l">
              <a:spcAft>
                <a:spcPts val="600"/>
              </a:spcAft>
            </a:pPr>
            <a:r>
              <a:rPr sz="1200" b="0">
                <a:solidFill>
                  <a:srgbClr val="5B6168"/>
                </a:solidFill>
              </a:rPr>
              <a:t>CHIRPS v3 to September 2026, % of the 1991–2020 normal. ERA5 gives 57–81%. October data come out in November.</a:t>
            </a:r>
          </a:p>
        </p:txBody>
      </p:sp>
      <p:graphicFrame>
        <p:nvGraphicFramePr>
          <p:cNvPr id="5" name="Chart 4"/>
          <p:cNvGraphicFramePr>
            <a:graphicFrameLocks noGrp="1"/>
          </p:cNvGraphicFramePr>
          <p:nvPr/>
        </p:nvGraphicFramePr>
        <p:xfrm>
          <a:off x="548640" y="1828800"/>
          <a:ext cx="11064240" cy="4343400"/>
        </p:xfrm>
        <a:graphic>
          <a:graphicData uri="http://schemas.openxmlformats.org/drawingml/2006/chart">
            <c:chart xmlns:c="http://schemas.openxmlformats.org/drawingml/2006/chart" r:id="rId3"/>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4"/>
        </a:solidFill>
        <a:effectLst/>
      </p:bgPr>
    </p:bg>
    <p:spTree>
      <p:nvGrpSpPr>
        <p:cNvPr id="1" name=""/>
        <p:cNvGrpSpPr/>
        <p:nvPr/>
      </p:nvGrpSpPr>
      <p:grpSpPr/>
      <p:sp>
        <p:nvSpPr>
          <p:cNvPr id="2" name="Title 1"/>
          <p:cNvSpPr>
            <a:spLocks noGrp="1"/>
          </p:cNvSpPr>
          <p:nvPr>
            <p:ph type="title"/>
          </p:nvPr>
        </p:nvSpPr>
        <p:spPr>
          <a:xfrm>
            <a:off x="548640" y="685800"/>
            <a:ext cx="11064240" cy="1051560"/>
          </a:xfrm>
        </p:spPr>
        <p:txBody>
          <a:bodyPr anchor="t" wrap="square">
            <a:normAutofit/>
          </a:bodyPr>
          <a:lstStyle/>
          <a:p>
            <a:r>
              <a:rPr>
                <a:solidFill>
                  <a:srgbClr val="1F2328"/>
                </a:solidFill>
              </a:rPr>
              <a:t>Mid-October: vegetation near normal nationally, cropland below the warning level in Sucre, Zulia and Falcón</a:t>
            </a:r>
          </a:p>
        </p:txBody>
      </p:sp>
      <p:sp>
        <p:nvSpPr>
          <p:cNvPr id="3" name="Part"/>
          <p:cNvSpPr txBox="1"/>
          <p:nvPr/>
        </p:nvSpPr>
        <p:spPr>
          <a:xfrm>
            <a:off x="548640" y="320040"/>
            <a:ext cx="7315200" cy="365760"/>
          </a:xfrm>
          <a:prstGeom prst="rect">
            <a:avLst/>
          </a:prstGeom>
          <a:noFill/>
        </p:spPr>
        <p:txBody>
          <a:bodyPr wrap="square">
            <a:spAutoFit/>
          </a:bodyPr>
          <a:lstStyle/>
          <a:p>
            <a:pPr algn="l">
              <a:spcAft>
                <a:spcPts val="600"/>
              </a:spcAft>
            </a:pPr>
            <a:r>
              <a:rPr sz="1400" b="1">
                <a:solidFill>
                  <a:srgbClr val="B5541B"/>
                </a:solidFill>
              </a:rPr>
              <a:t>2 · THIS YEAR SO FAR</a:t>
            </a:r>
          </a:p>
        </p:txBody>
      </p:sp>
      <p:sp>
        <p:nvSpPr>
          <p:cNvPr id="4" name="Source"/>
          <p:cNvSpPr txBox="1"/>
          <p:nvPr/>
        </p:nvSpPr>
        <p:spPr>
          <a:xfrm>
            <a:off x="548640" y="6263640"/>
            <a:ext cx="11064240" cy="411480"/>
          </a:xfrm>
          <a:prstGeom prst="rect">
            <a:avLst/>
          </a:prstGeom>
          <a:noFill/>
        </p:spPr>
        <p:txBody>
          <a:bodyPr wrap="square">
            <a:spAutoFit/>
          </a:bodyPr>
          <a:lstStyle/>
          <a:p>
            <a:pPr algn="l">
              <a:spcAft>
                <a:spcPts val="600"/>
              </a:spcAft>
            </a:pPr>
            <a:r>
              <a:rPr sz="1200" b="0">
                <a:solidFill>
                  <a:srgbClr val="5B6168"/>
                </a:solidFill>
              </a:rPr>
              <a:t>JRC ASAP, 11–20 October 2026: MODIS FPAR z-score over cropland; ASAP’s warning level is −1.</a:t>
            </a:r>
          </a:p>
        </p:txBody>
      </p:sp>
      <p:pic>
        <p:nvPicPr>
          <p:cNvPr id="5" name="Picture 4" descr="vegnow.png"/>
          <p:cNvPicPr>
            <a:picLocks noChangeAspect="1"/>
          </p:cNvPicPr>
          <p:nvPr/>
        </p:nvPicPr>
        <p:blipFill>
          <a:blip r:embed="rId3"/>
          <a:stretch>
            <a:fillRect/>
          </a:stretch>
        </p:blipFill>
        <p:spPr>
          <a:xfrm>
            <a:off x="822960" y="1828800"/>
            <a:ext cx="4322458" cy="4343400"/>
          </a:xfrm>
          <a:prstGeom prst="rect">
            <a:avLst/>
          </a:prstGeom>
        </p:spPr>
      </p:pic>
      <p:sp>
        <p:nvSpPr>
          <p:cNvPr id="6" name="Bullets"/>
          <p:cNvSpPr txBox="1"/>
          <p:nvPr/>
        </p:nvSpPr>
        <p:spPr>
          <a:xfrm>
            <a:off x="6400800" y="2286000"/>
            <a:ext cx="5212080" cy="3200400"/>
          </a:xfrm>
          <a:prstGeom prst="rect">
            <a:avLst/>
          </a:prstGeom>
          <a:noFill/>
        </p:spPr>
        <p:txBody>
          <a:bodyPr wrap="square">
            <a:spAutoFit/>
          </a:bodyPr>
          <a:lstStyle/>
          <a:p>
            <a:pPr marL="274320" indent="-274320">
              <a:spcAft>
                <a:spcPts val="1400"/>
              </a:spcAft>
              <a:buChar char="•"/>
            </a:pPr>
            <a:r>
              <a:rPr sz="2000">
                <a:solidFill>
                  <a:srgbClr val="1F2328"/>
                </a:solidFill>
              </a:rPr>
              <a:t>Cropland below normal in 15 of 23 states</a:t>
            </a:r>
          </a:p>
          <a:p>
            <a:pPr marL="274320" indent="-274320">
              <a:spcAft>
                <a:spcPts val="1400"/>
              </a:spcAft>
              <a:buChar char="•"/>
            </a:pPr>
            <a:r>
              <a:rPr sz="2000">
                <a:solidFill>
                  <a:srgbClr val="1F2328"/>
                </a:solidFill>
              </a:rPr>
              <a:t>FEWS NET (August): localized soil-moisture deficits in rainfed areas, no major crop losses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4"/>
        </a:solidFill>
        <a:effectLst/>
      </p:bgPr>
    </p:bg>
    <p:spTree>
      <p:nvGrpSpPr>
        <p:cNvPr id="1" name=""/>
        <p:cNvGrpSpPr/>
        <p:nvPr/>
      </p:nvGrpSpPr>
      <p:grpSpPr/>
      <p:sp>
        <p:nvSpPr>
          <p:cNvPr id="2" name="Title 1"/>
          <p:cNvSpPr>
            <a:spLocks noGrp="1"/>
          </p:cNvSpPr>
          <p:nvPr>
            <p:ph type="title"/>
          </p:nvPr>
        </p:nvSpPr>
        <p:spPr>
          <a:xfrm>
            <a:off x="548640" y="685800"/>
            <a:ext cx="11064240" cy="1051560"/>
          </a:xfrm>
        </p:spPr>
        <p:txBody>
          <a:bodyPr anchor="t" wrap="square">
            <a:normAutofit/>
          </a:bodyPr>
          <a:lstStyle/>
          <a:p>
            <a:r>
              <a:rPr>
                <a:solidFill>
                  <a:srgbClr val="1F2328"/>
                </a:solidFill>
              </a:rPr>
              <a:t>The Guri reservoir is near full (270.2 m); falls like those after past El Niño years would take it to 250–261 m by May 2027</a:t>
            </a:r>
          </a:p>
        </p:txBody>
      </p:sp>
      <p:sp>
        <p:nvSpPr>
          <p:cNvPr id="3" name="Part"/>
          <p:cNvSpPr txBox="1"/>
          <p:nvPr/>
        </p:nvSpPr>
        <p:spPr>
          <a:xfrm>
            <a:off x="548640" y="320040"/>
            <a:ext cx="7315200" cy="365760"/>
          </a:xfrm>
          <a:prstGeom prst="rect">
            <a:avLst/>
          </a:prstGeom>
          <a:noFill/>
        </p:spPr>
        <p:txBody>
          <a:bodyPr wrap="square">
            <a:spAutoFit/>
          </a:bodyPr>
          <a:lstStyle/>
          <a:p>
            <a:pPr algn="l">
              <a:spcAft>
                <a:spcPts val="600"/>
              </a:spcAft>
            </a:pPr>
            <a:r>
              <a:rPr sz="1400" b="1">
                <a:solidFill>
                  <a:srgbClr val="B5541B"/>
                </a:solidFill>
              </a:rPr>
              <a:t>2 · THIS YEAR SO FAR</a:t>
            </a:r>
          </a:p>
        </p:txBody>
      </p:sp>
      <p:sp>
        <p:nvSpPr>
          <p:cNvPr id="4" name="Source"/>
          <p:cNvSpPr txBox="1"/>
          <p:nvPr/>
        </p:nvSpPr>
        <p:spPr>
          <a:xfrm>
            <a:off x="548640" y="6263640"/>
            <a:ext cx="11064240" cy="411480"/>
          </a:xfrm>
          <a:prstGeom prst="rect">
            <a:avLst/>
          </a:prstGeom>
          <a:noFill/>
        </p:spPr>
        <p:txBody>
          <a:bodyPr wrap="square">
            <a:spAutoFit/>
          </a:bodyPr>
          <a:lstStyle/>
          <a:p>
            <a:pPr algn="l">
              <a:spcAft>
                <a:spcPts val="600"/>
              </a:spcAft>
            </a:pPr>
            <a:r>
              <a:rPr sz="1200" b="0">
                <a:solidFill>
                  <a:srgbClr val="5B6168"/>
                </a:solidFill>
              </a:rPr>
              <a:t>The low end is 2 m above the 2010 low. How far it falls also depends on releases for power. NASA G-REALM satellite altimetry.</a:t>
            </a:r>
          </a:p>
        </p:txBody>
      </p:sp>
      <p:pic>
        <p:nvPicPr>
          <p:cNvPr id="5" name="Picture 4" descr="guri.png"/>
          <p:cNvPicPr>
            <a:picLocks noChangeAspect="1"/>
          </p:cNvPicPr>
          <p:nvPr/>
        </p:nvPicPr>
        <p:blipFill>
          <a:blip r:embed="rId3"/>
          <a:stretch>
            <a:fillRect/>
          </a:stretch>
        </p:blipFill>
        <p:spPr>
          <a:xfrm>
            <a:off x="1463040" y="1874519"/>
            <a:ext cx="9047880" cy="42062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4"/>
        </a:solidFill>
        <a:effectLst/>
      </p:bgPr>
    </p:bg>
    <p:spTree>
      <p:nvGrpSpPr>
        <p:cNvPr id="1" name=""/>
        <p:cNvGrpSpPr/>
        <p:nvPr/>
      </p:nvGrpSpPr>
      <p:grpSpPr/>
      <p:sp>
        <p:nvSpPr>
          <p:cNvPr id="2" name="Title 1"/>
          <p:cNvSpPr>
            <a:spLocks noGrp="1"/>
          </p:cNvSpPr>
          <p:nvPr>
            <p:ph type="title"/>
          </p:nvPr>
        </p:nvSpPr>
        <p:spPr>
          <a:xfrm>
            <a:off x="548640" y="685800"/>
            <a:ext cx="11064240" cy="1051560"/>
          </a:xfrm>
        </p:spPr>
        <p:txBody>
          <a:bodyPr anchor="t" wrap="square">
            <a:normAutofit/>
          </a:bodyPr>
          <a:lstStyle/>
          <a:p>
            <a:r>
              <a:rPr>
                <a:solidFill>
                  <a:srgbClr val="1F2328"/>
                </a:solidFill>
              </a:rPr>
              <a:t>SEAS5, October 2026: one of the driest October–February forecasts since 1981, wherever it is the rainy season</a:t>
            </a:r>
          </a:p>
        </p:txBody>
      </p:sp>
      <p:sp>
        <p:nvSpPr>
          <p:cNvPr id="3" name="Part"/>
          <p:cNvSpPr txBox="1"/>
          <p:nvPr/>
        </p:nvSpPr>
        <p:spPr>
          <a:xfrm>
            <a:off x="548640" y="320040"/>
            <a:ext cx="7315200" cy="365760"/>
          </a:xfrm>
          <a:prstGeom prst="rect">
            <a:avLst/>
          </a:prstGeom>
          <a:noFill/>
        </p:spPr>
        <p:txBody>
          <a:bodyPr wrap="square">
            <a:spAutoFit/>
          </a:bodyPr>
          <a:lstStyle/>
          <a:p>
            <a:pPr algn="l">
              <a:spcAft>
                <a:spcPts val="600"/>
              </a:spcAft>
            </a:pPr>
            <a:r>
              <a:rPr sz="1400" b="1">
                <a:solidFill>
                  <a:srgbClr val="B5541B"/>
                </a:solidFill>
              </a:rPr>
              <a:t>3 · THE FORECAST</a:t>
            </a:r>
          </a:p>
        </p:txBody>
      </p:sp>
      <p:sp>
        <p:nvSpPr>
          <p:cNvPr id="4" name="Source"/>
          <p:cNvSpPr txBox="1"/>
          <p:nvPr/>
        </p:nvSpPr>
        <p:spPr>
          <a:xfrm>
            <a:off x="548640" y="6263640"/>
            <a:ext cx="11064240" cy="411480"/>
          </a:xfrm>
          <a:prstGeom prst="rect">
            <a:avLst/>
          </a:prstGeom>
          <a:noFill/>
        </p:spPr>
        <p:txBody>
          <a:bodyPr wrap="square">
            <a:spAutoFit/>
          </a:bodyPr>
          <a:lstStyle/>
          <a:p>
            <a:pPr algn="l">
              <a:spcAft>
                <a:spcPts val="600"/>
              </a:spcAft>
            </a:pPr>
            <a:r>
              <a:rPr sz="1200" b="0">
                <a:solidFill>
                  <a:srgbClr val="5B6168"/>
                </a:solidFill>
              </a:rPr>
              <a:t>ECMWF SEAS5, issued October 2026, detrended; classes as in the team’s seas5-skill viewer.</a:t>
            </a:r>
          </a:p>
        </p:txBody>
      </p:sp>
      <p:pic>
        <p:nvPicPr>
          <p:cNvPr id="5" name="Picture 4" descr="forecast.png"/>
          <p:cNvPicPr>
            <a:picLocks noChangeAspect="1"/>
          </p:cNvPicPr>
          <p:nvPr/>
        </p:nvPicPr>
        <p:blipFill>
          <a:blip r:embed="rId3"/>
          <a:stretch>
            <a:fillRect/>
          </a:stretch>
        </p:blipFill>
        <p:spPr>
          <a:xfrm>
            <a:off x="457200" y="2103120"/>
            <a:ext cx="7772400" cy="2891452"/>
          </a:xfrm>
          <a:prstGeom prst="rect">
            <a:avLst/>
          </a:prstGeom>
        </p:spPr>
      </p:pic>
      <p:sp>
        <p:nvSpPr>
          <p:cNvPr id="6" name="Bullets"/>
          <p:cNvSpPr txBox="1"/>
          <p:nvPr/>
        </p:nvSpPr>
        <p:spPr>
          <a:xfrm>
            <a:off x="8503920" y="2011680"/>
            <a:ext cx="3154680" cy="4023360"/>
          </a:xfrm>
          <a:prstGeom prst="rect">
            <a:avLst/>
          </a:prstGeom>
          <a:noFill/>
        </p:spPr>
        <p:txBody>
          <a:bodyPr wrap="square">
            <a:spAutoFit/>
          </a:bodyPr>
          <a:lstStyle/>
          <a:p>
            <a:pPr marL="274320" indent="-274320">
              <a:spcAft>
                <a:spcPts val="1400"/>
              </a:spcAft>
              <a:buChar char="•"/>
            </a:pPr>
            <a:r>
              <a:rPr sz="1700">
                <a:solidFill>
                  <a:srgbClr val="1F2328"/>
                </a:solidFill>
              </a:rPr>
              <a:t>Every rainy-season state and season (45 in all) is among the driest 10% of forecasts since 1981</a:t>
            </a:r>
          </a:p>
          <a:p>
            <a:pPr marL="274320" indent="-274320">
              <a:spcAft>
                <a:spcPts val="1400"/>
              </a:spcAft>
              <a:buChar char="•"/>
            </a:pPr>
            <a:r>
              <a:rPr sz="1700">
                <a:solidFill>
                  <a:srgbClr val="1F2328"/>
                </a:solidFill>
              </a:rPr>
              <a:t>The forecast has skill for these months (correlation 0.4–0.7)</a:t>
            </a:r>
          </a:p>
          <a:p>
            <a:pPr marL="274320" indent="-274320">
              <a:spcAft>
                <a:spcPts val="1400"/>
              </a:spcAft>
              <a:buChar char="•"/>
            </a:pPr>
            <a:r>
              <a:rPr sz="1700">
                <a:solidFill>
                  <a:srgbClr val="1F2328"/>
                </a:solidFill>
              </a:rPr>
              <a:t>ECMWF issues a new forecast every month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4"/>
        </a:solidFill>
        <a:effectLst/>
      </p:bgPr>
    </p:bg>
    <p:spTree>
      <p:nvGrpSpPr>
        <p:cNvPr id="1" name=""/>
        <p:cNvGrpSpPr/>
        <p:nvPr/>
      </p:nvGrpSpPr>
      <p:grpSpPr/>
      <p:sp>
        <p:nvSpPr>
          <p:cNvPr id="2" name="Title 1"/>
          <p:cNvSpPr>
            <a:spLocks noGrp="1"/>
          </p:cNvSpPr>
          <p:nvPr>
            <p:ph type="title"/>
          </p:nvPr>
        </p:nvSpPr>
        <p:spPr>
          <a:xfrm>
            <a:off x="548640" y="685800"/>
            <a:ext cx="11064240" cy="1051560"/>
          </a:xfrm>
        </p:spPr>
        <p:txBody>
          <a:bodyPr anchor="t" wrap="square">
            <a:normAutofit/>
          </a:bodyPr>
          <a:lstStyle/>
          <a:p>
            <a:r>
              <a:rPr>
                <a:solidFill>
                  <a:srgbClr val="1F2328"/>
                </a:solidFill>
              </a:rPr>
              <a:t>The forecast months cover the summer planting of maize and rice and the coffee and sugar-cane harvest</a:t>
            </a:r>
          </a:p>
        </p:txBody>
      </p:sp>
      <p:sp>
        <p:nvSpPr>
          <p:cNvPr id="3" name="Part"/>
          <p:cNvSpPr txBox="1"/>
          <p:nvPr/>
        </p:nvSpPr>
        <p:spPr>
          <a:xfrm>
            <a:off x="548640" y="320040"/>
            <a:ext cx="7315200" cy="365760"/>
          </a:xfrm>
          <a:prstGeom prst="rect">
            <a:avLst/>
          </a:prstGeom>
          <a:noFill/>
        </p:spPr>
        <p:txBody>
          <a:bodyPr wrap="square">
            <a:spAutoFit/>
          </a:bodyPr>
          <a:lstStyle/>
          <a:p>
            <a:pPr algn="l">
              <a:spcAft>
                <a:spcPts val="600"/>
              </a:spcAft>
            </a:pPr>
            <a:r>
              <a:rPr sz="1400" b="1">
                <a:solidFill>
                  <a:srgbClr val="B5541B"/>
                </a:solidFill>
              </a:rPr>
              <a:t>3 · THE FORECAST</a:t>
            </a:r>
          </a:p>
        </p:txBody>
      </p:sp>
      <p:sp>
        <p:nvSpPr>
          <p:cNvPr id="4" name="Source"/>
          <p:cNvSpPr txBox="1"/>
          <p:nvPr/>
        </p:nvSpPr>
        <p:spPr>
          <a:xfrm>
            <a:off x="548640" y="6263640"/>
            <a:ext cx="11064240" cy="411480"/>
          </a:xfrm>
          <a:prstGeom prst="rect">
            <a:avLst/>
          </a:prstGeom>
          <a:noFill/>
        </p:spPr>
        <p:txBody>
          <a:bodyPr wrap="square">
            <a:spAutoFit/>
          </a:bodyPr>
          <a:lstStyle/>
          <a:p>
            <a:pPr algn="l">
              <a:spcAft>
                <a:spcPts val="600"/>
              </a:spcAft>
            </a:pPr>
            <a:r>
              <a:rPr sz="1200" b="0">
                <a:solidFill>
                  <a:srgbClr val="5B6168"/>
                </a:solidFill>
              </a:rPr>
              <a:t>FEWS NET: seasonal calendar (Venezuela page) and El Niño briefing, August 2026.</a:t>
            </a:r>
          </a:p>
        </p:txBody>
      </p:sp>
      <p:pic>
        <p:nvPicPr>
          <p:cNvPr id="5" name="Picture 4" descr="ve_seasonal_calendar_rural.png"/>
          <p:cNvPicPr>
            <a:picLocks noChangeAspect="1"/>
          </p:cNvPicPr>
          <p:nvPr/>
        </p:nvPicPr>
        <p:blipFill>
          <a:blip r:embed="rId3"/>
          <a:stretch>
            <a:fillRect/>
          </a:stretch>
        </p:blipFill>
        <p:spPr>
          <a:xfrm>
            <a:off x="548640" y="1920240"/>
            <a:ext cx="7498079" cy="3740708"/>
          </a:xfrm>
          <a:prstGeom prst="rect">
            <a:avLst/>
          </a:prstGeom>
        </p:spPr>
      </p:pic>
      <p:sp>
        <p:nvSpPr>
          <p:cNvPr id="6" name="Bullets"/>
          <p:cNvSpPr txBox="1"/>
          <p:nvPr/>
        </p:nvSpPr>
        <p:spPr>
          <a:xfrm>
            <a:off x="8321040" y="2011680"/>
            <a:ext cx="3337560" cy="4023360"/>
          </a:xfrm>
          <a:prstGeom prst="rect">
            <a:avLst/>
          </a:prstGeom>
          <a:noFill/>
        </p:spPr>
        <p:txBody>
          <a:bodyPr wrap="square">
            <a:spAutoFit/>
          </a:bodyPr>
          <a:lstStyle/>
          <a:p>
            <a:pPr marL="274320" indent="-274320">
              <a:spcAft>
                <a:spcPts val="1400"/>
              </a:spcAft>
              <a:buChar char="•"/>
            </a:pPr>
            <a:r>
              <a:rPr sz="1700">
                <a:solidFill>
                  <a:srgbClr val="1F2328"/>
                </a:solidFill>
              </a:rPr>
              <a:t>FEWS NET expects Stressed (IPC Phase 2) outcomes for October 2026 to January 2027</a:t>
            </a:r>
          </a:p>
          <a:p>
            <a:pPr marL="274320" indent="-274320">
              <a:spcAft>
                <a:spcPts val="1400"/>
              </a:spcAft>
              <a:buChar char="•"/>
            </a:pPr>
            <a:r>
              <a:rPr sz="1700">
                <a:solidFill>
                  <a:srgbClr val="1F2328"/>
                </a:solidFill>
              </a:rPr>
              <a:t>It expects localized rainfed losses with limited impact, given irrigation and imports</a:t>
            </a:r>
          </a:p>
          <a:p>
            <a:pPr marL="274320" indent="-274320">
              <a:spcAft>
                <a:spcPts val="1400"/>
              </a:spcAft>
              <a:buChar char="•"/>
            </a:pPr>
            <a:r>
              <a:rPr sz="1700">
                <a:solidFill>
                  <a:srgbClr val="1F2328"/>
                </a:solidFill>
              </a:rPr>
              <a:t>It puts peak needs in August–October 2026, driven by the earthquake and the economy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4"/>
        </a:solidFill>
        <a:effectLst/>
      </p:bgPr>
    </p:bg>
    <p:spTree>
      <p:nvGrpSpPr>
        <p:cNvPr id="1" name=""/>
        <p:cNvGrpSpPr/>
        <p:nvPr/>
      </p:nvGrpSpPr>
      <p:grpSpPr/>
      <p:sp>
        <p:nvSpPr>
          <p:cNvPr id="2" name="Title 1"/>
          <p:cNvSpPr>
            <a:spLocks noGrp="1"/>
          </p:cNvSpPr>
          <p:nvPr>
            <p:ph type="title"/>
          </p:nvPr>
        </p:nvSpPr>
        <p:spPr>
          <a:xfrm>
            <a:off x="548640" y="685800"/>
            <a:ext cx="11064240" cy="1051560"/>
          </a:xfrm>
        </p:spPr>
        <p:txBody>
          <a:bodyPr anchor="t" wrap="square">
            <a:normAutofit/>
          </a:bodyPr>
          <a:lstStyle/>
          <a:p>
            <a:r>
              <a:rPr>
                <a:solidFill>
                  <a:srgbClr val="1F2328"/>
                </a:solidFill>
              </a:rPr>
              <a:t>What to watch next</a:t>
            </a:r>
          </a:p>
        </p:txBody>
      </p:sp>
      <p:sp>
        <p:nvSpPr>
          <p:cNvPr id="3" name="Bullets"/>
          <p:cNvSpPr txBox="1"/>
          <p:nvPr/>
        </p:nvSpPr>
        <p:spPr>
          <a:xfrm>
            <a:off x="548640" y="1920240"/>
            <a:ext cx="11064240" cy="3474720"/>
          </a:xfrm>
          <a:prstGeom prst="rect">
            <a:avLst/>
          </a:prstGeom>
          <a:noFill/>
        </p:spPr>
        <p:txBody>
          <a:bodyPr wrap="square">
            <a:spAutoFit/>
          </a:bodyPr>
          <a:lstStyle/>
          <a:p>
            <a:pPr marL="274320" indent="-274320">
              <a:spcAft>
                <a:spcPts val="1400"/>
              </a:spcAft>
              <a:buChar char="•"/>
            </a:pPr>
            <a:r>
              <a:rPr sz="2400">
                <a:solidFill>
                  <a:srgbClr val="1F2328"/>
                </a:solidFill>
              </a:rPr>
              <a:t>The November SEAS5 forecast, out in early November</a:t>
            </a:r>
          </a:p>
          <a:p>
            <a:pPr marL="274320" indent="-274320">
              <a:spcAft>
                <a:spcPts val="1400"/>
              </a:spcAft>
              <a:buChar char="•"/>
            </a:pPr>
            <a:r>
              <a:rPr sz="2400">
                <a:solidFill>
                  <a:srgbClr val="1F2328"/>
                </a:solidFill>
              </a:rPr>
              <a:t>October rain, from CHIRPS and ERA5 in November</a:t>
            </a:r>
          </a:p>
          <a:p>
            <a:pPr marL="274320" indent="-274320">
              <a:spcAft>
                <a:spcPts val="1400"/>
              </a:spcAft>
              <a:buChar char="•"/>
            </a:pPr>
            <a:r>
              <a:rPr sz="2400">
                <a:solidFill>
                  <a:srgbClr val="1F2328"/>
                </a:solidFill>
              </a:rPr>
              <a:t>The Guri reservoir level through the dry season</a:t>
            </a:r>
          </a:p>
          <a:p>
            <a:pPr marL="274320" indent="-274320">
              <a:spcAft>
                <a:spcPts val="1400"/>
              </a:spcAft>
              <a:buChar char="•"/>
            </a:pPr>
            <a:r>
              <a:rPr sz="2400">
                <a:solidFill>
                  <a:srgbClr val="1F2328"/>
                </a:solidFill>
              </a:rPr>
              <a:t>Cropland warnings in the north-west and north-east (JRC ASAP, every ten days)</a:t>
            </a:r>
          </a:p>
        </p:txBody>
      </p:sp>
      <p:sp>
        <p:nvSpPr>
          <p:cNvPr id="4" name="Link"/>
          <p:cNvSpPr txBox="1"/>
          <p:nvPr/>
        </p:nvSpPr>
        <p:spPr>
          <a:xfrm>
            <a:off x="548640" y="5669280"/>
            <a:ext cx="11064240" cy="457200"/>
          </a:xfrm>
          <a:prstGeom prst="rect">
            <a:avLst/>
          </a:prstGeom>
          <a:noFill/>
        </p:spPr>
        <p:txBody>
          <a:bodyPr wrap="square">
            <a:spAutoFit/>
          </a:bodyPr>
          <a:lstStyle/>
          <a:p>
            <a:pPr algn="l">
              <a:spcAft>
                <a:spcPts val="600"/>
              </a:spcAft>
            </a:pPr>
            <a:r>
              <a:rPr sz="1600" b="0">
                <a:solidFill>
                  <a:srgbClr val="5B6168"/>
                </a:solidFill>
              </a:rPr>
              <a:t>Full analysis, in English and Spanish: </a:t>
            </a:r>
            <a:r>
              <a:rPr sz="1600">
                <a:hlinkClick r:id="rId3"/>
              </a:rPr>
              <a:t>https://ocha-dap.github.io/ds-teleconnections/enso/ven/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Venezuela: El Niño 2026/27</dc:title>
  <dc:subject/>
  <dc:creator>OCHA Centre for Humanitarian Data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